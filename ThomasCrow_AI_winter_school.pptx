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81" r:id="rId2"/>
    <p:sldId id="426" r:id="rId3"/>
    <p:sldId id="428" r:id="rId4"/>
    <p:sldId id="420" r:id="rId5"/>
    <p:sldId id="436" r:id="rId6"/>
    <p:sldId id="437" r:id="rId7"/>
    <p:sldId id="495" r:id="rId8"/>
    <p:sldId id="493" r:id="rId9"/>
    <p:sldId id="483" r:id="rId10"/>
    <p:sldId id="418" r:id="rId11"/>
    <p:sldId id="496" r:id="rId12"/>
    <p:sldId id="497" r:id="rId13"/>
    <p:sldId id="43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NP selection" id="{68281696-0800-7648-8910-5CB116C851F9}">
          <p14:sldIdLst>
            <p14:sldId id="381"/>
            <p14:sldId id="426"/>
            <p14:sldId id="428"/>
            <p14:sldId id="420"/>
            <p14:sldId id="436"/>
            <p14:sldId id="437"/>
            <p14:sldId id="495"/>
            <p14:sldId id="493"/>
            <p14:sldId id="483"/>
            <p14:sldId id="418"/>
            <p14:sldId id="496"/>
            <p14:sldId id="497"/>
            <p14:sldId id="435"/>
          </p14:sldIdLst>
        </p14:section>
        <p14:section name="Misc" id="{B5CE32EA-0004-674C-BBF3-D9F0E8EFFBD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CDC1"/>
    <a:srgbClr val="CCC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202"/>
    <p:restoredTop sz="90556"/>
  </p:normalViewPr>
  <p:slideViewPr>
    <p:cSldViewPr snapToGrid="0">
      <p:cViewPr>
        <p:scale>
          <a:sx n="81" d="100"/>
          <a:sy n="81" d="100"/>
        </p:scale>
        <p:origin x="28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5B6D1-BA62-DB49-85ED-7A856480D37D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6868A-DA93-8647-A7F0-5DDD21872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83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6868A-DA93-8647-A7F0-5DDD218726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29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83CA5-FD59-E361-1563-CB5F6468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CB58C-1B4C-4E47-B5EF-5C88B6BFC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46B57-39ED-A8B0-0C30-54E6C1AA1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FA452-DEF8-EA38-BCEE-90BE2CF92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6868A-DA93-8647-A7F0-5DDD218726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30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0B7F-5D67-47EA-22C7-74CC08B7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BC321-80C6-6198-3288-F8399BA0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18459-1745-9D09-946E-B7A66A4BA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DD712-DDCB-34ED-E269-F7A6CF0BB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6868A-DA93-8647-A7F0-5DDD218726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1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6868A-DA93-8647-A7F0-5DDD218726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91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761F-03A1-6B4E-06BE-58202009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4D66D-91FD-A155-6F5B-961585247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BB96F-9E1F-C531-79B1-7818AB1D8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65575-5AE2-E852-C7ED-B5595EA4E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6868A-DA93-8647-A7F0-5DDD218726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08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6868A-DA93-8647-A7F0-5DDD218726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74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6868A-DA93-8647-A7F0-5DDD218726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48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6868A-DA93-8647-A7F0-5DDD218726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57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6868A-DA93-8647-A7F0-5DDD218726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29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5F30-154B-46DA-7712-96CAD525A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E5EF5-B6B1-7AA8-BCBF-0BE8AE5F9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D008F-9C21-CBD9-D68F-45AEB10E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2F003-19A0-20FB-8EA7-0FB108BD1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A048F-2ADD-6582-28EE-EB339CB0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4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410A4-FC39-9617-7CA8-0E5C11AE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8493-31D5-EE49-A698-19E6A6D04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B8309-2BCE-4CA3-FD6B-4A3B7C92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84D82-B799-98F3-6325-51D10FE8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9110-CE30-7875-B513-40877BBE5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5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FE7C-C7B1-25C0-8E71-2CB9272E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E0C43-77BA-219D-7070-F0BEE5FB4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2B914-5503-5402-6977-D866B4C11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34E42-9E54-3665-3D27-AC91900C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F55B5-0EDE-FA47-A807-B544254FE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4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8C59-C8C5-D2E3-2E06-B096B3CE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3C1B1-E5AF-EE77-A95C-CB2CC29DE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12709-97D4-1548-A7ED-B4995997D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629C7-7654-7470-2B14-1B77FBF7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6F36E-72AA-A16C-3F64-86012A87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99B71-29A8-EF04-6A73-F21763DF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0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0895C-2300-5A6F-802E-8A5C940A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5777D-5A5F-315A-35D8-608A8EAED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BFEB2-3380-4D32-83E7-7FC373E82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C6BB67-51E0-5EA7-426A-048DDEC44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4C168-BDF6-FEB5-FFEA-5F46B5AF6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459D93-405F-8243-7AD8-25DCDE9E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B478E5-E970-B12F-0779-D03F17A1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A73B3-9970-2585-4999-81A973CA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25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236D-637D-A554-CC0F-63CF27FC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7C7DDE-CBB2-67FC-15A1-B98E9B47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85231-BC68-C76A-12C7-7BD94AE4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FF8DC-0CE8-B252-1094-61434455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51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957FE7-9F09-54EB-B632-AC7772EF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67067-1E21-716A-6B55-FB8344687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FB0DD-641C-2ABD-10C2-57139DA9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66AB-6FCC-68DE-2756-C5F072E6A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67EB7-FFEF-B887-D0D0-3EEF904CB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26726-C460-51DF-64DA-6811EE24A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6A0DE-6277-EB5E-AB36-B74EA3E9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BE3AA-1BD1-B120-33D7-1AD5D0E1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857B5-E809-74ED-865F-BC993740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73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28D1E-41D3-A156-5E01-A858ADB2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70A4CA-A039-860C-4545-CE8CF9DF6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3D324-D6D1-F021-24E6-4A45399EE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DF359-456D-E997-4DFC-E10A25E9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5491D-6AD1-6BF8-EB25-181EFE77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A780D-7C37-E41A-752A-4D9D442A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8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658B-5181-5C2D-DBDC-D77A8F53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231D9-CBF4-016F-D817-90E2C7F7C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E188-C7F4-80C9-C898-4A5F4B4B4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DD71C-7306-8D66-DE4B-BBEC5A68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86EFD-00F1-4EE8-5DBF-BDAAA7F7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964969-77E8-BB48-5729-F94FDD0DB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5DC07-6EC3-61E8-AEB8-923D86B54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1BF23-F405-CCC7-57D3-67022F02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EA367-62E4-23EC-BDD7-EFB9A4A7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F9345-5BF3-ACEA-8639-723041CA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52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ap&#10;&#10;Description automatically generated">
            <a:extLst>
              <a:ext uri="{FF2B5EF4-FFF2-40B4-BE49-F238E27FC236}">
                <a16:creationId xmlns:a16="http://schemas.microsoft.com/office/drawing/2014/main" id="{E420CC1A-569C-45F7-AA89-E2A02A491A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71" t="20062"/>
          <a:stretch/>
        </p:blipFill>
        <p:spPr>
          <a:xfrm>
            <a:off x="0" y="-19050"/>
            <a:ext cx="7629525" cy="70712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A2E620-27BE-4940-BC24-E3B4546FCC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25715" y="2127895"/>
            <a:ext cx="4065093" cy="1301105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296025" y="3728094"/>
            <a:ext cx="5324475" cy="18726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</a:t>
            </a:r>
          </a:p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160713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70014"/>
            <a:ext cx="5097381" cy="408329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  <a:p>
            <a:pPr lvl="0"/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3"/>
          </p:nvPr>
        </p:nvSpPr>
        <p:spPr>
          <a:xfrm>
            <a:off x="6256420" y="1670013"/>
            <a:ext cx="5100499" cy="408538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  <a:p>
            <a:pPr lvl="0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0B5FAF-FB2A-4B92-B968-411131F0E3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3663" y="6078268"/>
            <a:ext cx="1885211" cy="6033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71B436-0830-4773-B86E-99D5452F64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4943"/>
            <a:ext cx="9772650" cy="497301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E7CC46-AD5B-37D0-1C89-64630C62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620"/>
            <a:ext cx="10515600" cy="904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5575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80B5FAF-FB2A-4B92-B968-411131F0E3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3663" y="6078268"/>
            <a:ext cx="1885211" cy="6033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71B436-0830-4773-B86E-99D5452F64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4943"/>
            <a:ext cx="9772650" cy="497301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E7CC46-AD5B-37D0-1C89-64630C62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19" y="1021699"/>
            <a:ext cx="10515600" cy="904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Round Single Corner of Rectangle 4">
            <a:extLst>
              <a:ext uri="{FF2B5EF4-FFF2-40B4-BE49-F238E27FC236}">
                <a16:creationId xmlns:a16="http://schemas.microsoft.com/office/drawing/2014/main" id="{1E8C05B1-CFCF-4C78-B9A1-0C9979A51084}"/>
              </a:ext>
            </a:extLst>
          </p:cNvPr>
          <p:cNvSpPr/>
          <p:nvPr userDrawn="1"/>
        </p:nvSpPr>
        <p:spPr>
          <a:xfrm>
            <a:off x="140213" y="0"/>
            <a:ext cx="1970690" cy="895042"/>
          </a:xfrm>
          <a:prstGeom prst="round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45BA1A8F-E0FB-83FC-606C-FEF0DF85283A}"/>
              </a:ext>
            </a:extLst>
          </p:cNvPr>
          <p:cNvSpPr/>
          <p:nvPr userDrawn="1"/>
        </p:nvSpPr>
        <p:spPr>
          <a:xfrm>
            <a:off x="2110903" y="0"/>
            <a:ext cx="1970690" cy="895042"/>
          </a:xfrm>
          <a:prstGeom prst="round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 Single Corner of Rectangle 6">
            <a:extLst>
              <a:ext uri="{FF2B5EF4-FFF2-40B4-BE49-F238E27FC236}">
                <a16:creationId xmlns:a16="http://schemas.microsoft.com/office/drawing/2014/main" id="{796B4960-7FE2-0074-998F-259A2F6CC9C1}"/>
              </a:ext>
            </a:extLst>
          </p:cNvPr>
          <p:cNvSpPr/>
          <p:nvPr userDrawn="1"/>
        </p:nvSpPr>
        <p:spPr>
          <a:xfrm>
            <a:off x="4081593" y="0"/>
            <a:ext cx="1970690" cy="895042"/>
          </a:xfrm>
          <a:prstGeom prst="round1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6273B6B3-252D-1451-0E57-35CC64F35F4B}"/>
              </a:ext>
            </a:extLst>
          </p:cNvPr>
          <p:cNvSpPr/>
          <p:nvPr userDrawn="1"/>
        </p:nvSpPr>
        <p:spPr>
          <a:xfrm>
            <a:off x="6052283" y="0"/>
            <a:ext cx="1970690" cy="895042"/>
          </a:xfrm>
          <a:prstGeom prst="round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 Single Corner of Rectangle 8">
            <a:extLst>
              <a:ext uri="{FF2B5EF4-FFF2-40B4-BE49-F238E27FC236}">
                <a16:creationId xmlns:a16="http://schemas.microsoft.com/office/drawing/2014/main" id="{6A23BB33-D64A-0F8F-4860-6AA84A8CEC8D}"/>
              </a:ext>
            </a:extLst>
          </p:cNvPr>
          <p:cNvSpPr/>
          <p:nvPr userDrawn="1"/>
        </p:nvSpPr>
        <p:spPr>
          <a:xfrm>
            <a:off x="8022973" y="0"/>
            <a:ext cx="1970690" cy="895042"/>
          </a:xfrm>
          <a:prstGeom prst="round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 Single Corner of Rectangle 10">
            <a:extLst>
              <a:ext uri="{FF2B5EF4-FFF2-40B4-BE49-F238E27FC236}">
                <a16:creationId xmlns:a16="http://schemas.microsoft.com/office/drawing/2014/main" id="{764F1EC0-78A1-A0F5-96A4-A3D70ADF3E91}"/>
              </a:ext>
            </a:extLst>
          </p:cNvPr>
          <p:cNvSpPr/>
          <p:nvPr userDrawn="1"/>
        </p:nvSpPr>
        <p:spPr>
          <a:xfrm>
            <a:off x="9993663" y="0"/>
            <a:ext cx="1970690" cy="895042"/>
          </a:xfrm>
          <a:prstGeom prst="round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BC2C40-1A2E-CE3F-3D9B-D5BC01D97BCB}"/>
              </a:ext>
            </a:extLst>
          </p:cNvPr>
          <p:cNvCxnSpPr>
            <a:cxnSpLocks/>
          </p:cNvCxnSpPr>
          <p:nvPr userDrawn="1"/>
        </p:nvCxnSpPr>
        <p:spPr>
          <a:xfrm>
            <a:off x="140213" y="906195"/>
            <a:ext cx="12192000" cy="0"/>
          </a:xfrm>
          <a:prstGeom prst="line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2D2D9B-EFAE-1FB5-8949-E3738A1A7CD2}"/>
              </a:ext>
            </a:extLst>
          </p:cNvPr>
          <p:cNvSpPr txBox="1"/>
          <p:nvPr userDrawn="1"/>
        </p:nvSpPr>
        <p:spPr>
          <a:xfrm>
            <a:off x="2298593" y="536863"/>
            <a:ext cx="159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Background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EF1298-2988-C268-1323-641EB511A46A}"/>
              </a:ext>
            </a:extLst>
          </p:cNvPr>
          <p:cNvSpPr txBox="1"/>
          <p:nvPr userDrawn="1"/>
        </p:nvSpPr>
        <p:spPr>
          <a:xfrm>
            <a:off x="5049275" y="309575"/>
            <a:ext cx="80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Aim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72D33B-8602-CBB8-382D-A36C979EE693}"/>
              </a:ext>
            </a:extLst>
          </p:cNvPr>
          <p:cNvSpPr txBox="1"/>
          <p:nvPr userDrawn="1"/>
        </p:nvSpPr>
        <p:spPr>
          <a:xfrm>
            <a:off x="7077687" y="303228"/>
            <a:ext cx="80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Aim 2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7694FA-60B3-7B53-9180-F82FEA6E1D8D}"/>
              </a:ext>
            </a:extLst>
          </p:cNvPr>
          <p:cNvGrpSpPr/>
          <p:nvPr userDrawn="1"/>
        </p:nvGrpSpPr>
        <p:grpSpPr>
          <a:xfrm>
            <a:off x="6295794" y="201194"/>
            <a:ext cx="700107" cy="520335"/>
            <a:chOff x="8329378" y="857984"/>
            <a:chExt cx="2483864" cy="1846061"/>
          </a:xfrm>
        </p:grpSpPr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947C4B43-5F57-1742-60E9-0848325DA650}"/>
                </a:ext>
              </a:extLst>
            </p:cNvPr>
            <p:cNvSpPr/>
            <p:nvPr/>
          </p:nvSpPr>
          <p:spPr>
            <a:xfrm rot="11971091">
              <a:off x="8329378" y="1592389"/>
              <a:ext cx="2274884" cy="1111656"/>
            </a:xfrm>
            <a:prstGeom prst="parallelogram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29A5294F-E193-CCD7-2509-5585BCE92B40}"/>
                </a:ext>
              </a:extLst>
            </p:cNvPr>
            <p:cNvSpPr/>
            <p:nvPr/>
          </p:nvSpPr>
          <p:spPr>
            <a:xfrm rot="11971091">
              <a:off x="8538358" y="857984"/>
              <a:ext cx="2274884" cy="1111656"/>
            </a:xfrm>
            <a:prstGeom prst="parallelogram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8F2FB41-A795-0DCE-3E29-79F2F2E9DBC6}"/>
                </a:ext>
              </a:extLst>
            </p:cNvPr>
            <p:cNvGrpSpPr/>
            <p:nvPr/>
          </p:nvGrpSpPr>
          <p:grpSpPr>
            <a:xfrm>
              <a:off x="8916550" y="893268"/>
              <a:ext cx="1296875" cy="972502"/>
              <a:chOff x="7261761" y="2685635"/>
              <a:chExt cx="1595502" cy="1196437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CED98B6-C0E3-9E58-3ECB-3F679EC0DA6A}"/>
                  </a:ext>
                </a:extLst>
              </p:cNvPr>
              <p:cNvSpPr/>
              <p:nvPr/>
            </p:nvSpPr>
            <p:spPr>
              <a:xfrm>
                <a:off x="7261761" y="2973061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EBAF7F8-A662-C849-CDEE-F8F83287A583}"/>
                  </a:ext>
                </a:extLst>
              </p:cNvPr>
              <p:cNvSpPr/>
              <p:nvPr/>
            </p:nvSpPr>
            <p:spPr>
              <a:xfrm rot="1660508">
                <a:off x="7583605" y="3055376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2E38043A-0650-C847-3E4B-71127E441384}"/>
                  </a:ext>
                </a:extLst>
              </p:cNvPr>
              <p:cNvSpPr/>
              <p:nvPr/>
            </p:nvSpPr>
            <p:spPr>
              <a:xfrm rot="2736242">
                <a:off x="7269038" y="3323356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6F66C61-C3AD-C336-70A3-D377100CA0AC}"/>
                  </a:ext>
                </a:extLst>
              </p:cNvPr>
              <p:cNvSpPr/>
              <p:nvPr/>
            </p:nvSpPr>
            <p:spPr>
              <a:xfrm rot="159033">
                <a:off x="7825924" y="3408695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25891B6-356B-A782-2ABD-48B0122632F9}"/>
                  </a:ext>
                </a:extLst>
              </p:cNvPr>
              <p:cNvSpPr/>
              <p:nvPr/>
            </p:nvSpPr>
            <p:spPr>
              <a:xfrm rot="21151473">
                <a:off x="8108540" y="3284424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FEDCB1A-3667-D012-4B8F-92759D935DD1}"/>
                  </a:ext>
                </a:extLst>
              </p:cNvPr>
              <p:cNvSpPr/>
              <p:nvPr/>
            </p:nvSpPr>
            <p:spPr>
              <a:xfrm rot="1238502">
                <a:off x="7991798" y="3653024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97BADE7-DED0-7243-B995-AD250EA3C844}"/>
                  </a:ext>
                </a:extLst>
              </p:cNvPr>
              <p:cNvSpPr/>
              <p:nvPr/>
            </p:nvSpPr>
            <p:spPr>
              <a:xfrm rot="20632188">
                <a:off x="8267881" y="3541368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CAE66EB3-95B9-BDCD-45B9-DD1CE34DD82E}"/>
                  </a:ext>
                </a:extLst>
              </p:cNvPr>
              <p:cNvSpPr/>
              <p:nvPr/>
            </p:nvSpPr>
            <p:spPr>
              <a:xfrm rot="20800156">
                <a:off x="8038864" y="2987138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B4514D3-E3CB-1546-F2CC-0D3502BFF15C}"/>
                  </a:ext>
                </a:extLst>
              </p:cNvPr>
              <p:cNvSpPr/>
              <p:nvPr/>
            </p:nvSpPr>
            <p:spPr>
              <a:xfrm rot="20231747">
                <a:off x="8088902" y="2685635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AA14D1B-374C-5B85-A1E2-3BF9DA1BC35C}"/>
                  </a:ext>
                </a:extLst>
              </p:cNvPr>
              <p:cNvSpPr/>
              <p:nvPr/>
            </p:nvSpPr>
            <p:spPr>
              <a:xfrm>
                <a:off x="8325798" y="2911707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D2DC026-AE23-60D1-4EA0-3650294767AE}"/>
                  </a:ext>
                </a:extLst>
              </p:cNvPr>
              <p:cNvCxnSpPr>
                <a:cxnSpLocks/>
                <a:stCxn id="44" idx="4"/>
                <a:endCxn id="46" idx="1"/>
              </p:cNvCxnSpPr>
              <p:nvPr/>
            </p:nvCxnSpPr>
            <p:spPr>
              <a:xfrm>
                <a:off x="7374577" y="3202109"/>
                <a:ext cx="9329" cy="12211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5E8FE92-B44C-4131-467E-08E38AEA4552}"/>
                  </a:ext>
                </a:extLst>
              </p:cNvPr>
              <p:cNvCxnSpPr>
                <a:stCxn id="44" idx="6"/>
                <a:endCxn id="45" idx="2"/>
              </p:cNvCxnSpPr>
              <p:nvPr/>
            </p:nvCxnSpPr>
            <p:spPr>
              <a:xfrm>
                <a:off x="7487393" y="3087585"/>
                <a:ext cx="109119" cy="2991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1FF5880-BFD7-1B90-2828-F500C51BF36B}"/>
                  </a:ext>
                </a:extLst>
              </p:cNvPr>
              <p:cNvCxnSpPr>
                <a:stCxn id="45" idx="5"/>
                <a:endCxn id="47" idx="1"/>
              </p:cNvCxnSpPr>
              <p:nvPr/>
            </p:nvCxnSpPr>
            <p:spPr>
              <a:xfrm>
                <a:off x="7729455" y="3278668"/>
                <a:ext cx="133342" cy="15996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BFA560A-5D1E-D34A-6393-51AFF937E2F0}"/>
                  </a:ext>
                </a:extLst>
              </p:cNvPr>
              <p:cNvCxnSpPr>
                <a:stCxn id="47" idx="7"/>
                <a:endCxn id="48" idx="2"/>
              </p:cNvCxnSpPr>
              <p:nvPr/>
            </p:nvCxnSpPr>
            <p:spPr>
              <a:xfrm flipV="1">
                <a:off x="8022173" y="3413626"/>
                <a:ext cx="87326" cy="3238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8615564-2FAA-01BE-9875-F95EAA9A11DB}"/>
                  </a:ext>
                </a:extLst>
              </p:cNvPr>
              <p:cNvCxnSpPr>
                <a:stCxn id="47" idx="5"/>
                <a:endCxn id="49" idx="1"/>
              </p:cNvCxnSpPr>
              <p:nvPr/>
            </p:nvCxnSpPr>
            <p:spPr>
              <a:xfrm>
                <a:off x="8014683" y="3607802"/>
                <a:ext cx="43827" cy="5584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5F2F26D-6BB1-0008-4276-EFE4615088BF}"/>
                  </a:ext>
                </a:extLst>
              </p:cNvPr>
              <p:cNvCxnSpPr>
                <a:stCxn id="49" idx="7"/>
                <a:endCxn id="50" idx="2"/>
              </p:cNvCxnSpPr>
              <p:nvPr/>
            </p:nvCxnSpPr>
            <p:spPr>
              <a:xfrm flipV="1">
                <a:off x="8207813" y="3687235"/>
                <a:ext cx="64509" cy="326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42107BE-B77E-A06E-E850-F0DE12E71EB0}"/>
                  </a:ext>
                </a:extLst>
              </p:cNvPr>
              <p:cNvCxnSpPr>
                <a:stCxn id="50" idx="0"/>
                <a:endCxn id="48" idx="5"/>
              </p:cNvCxnSpPr>
              <p:nvPr/>
            </p:nvCxnSpPr>
            <p:spPr>
              <a:xfrm flipH="1" flipV="1">
                <a:off x="8310987" y="3468862"/>
                <a:ext cx="37893" cy="7701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65031C4-51D0-1EA6-BF9E-E7B0AFEB2D64}"/>
                  </a:ext>
                </a:extLst>
              </p:cNvPr>
              <p:cNvCxnSpPr>
                <a:stCxn id="48" idx="0"/>
                <a:endCxn id="51" idx="4"/>
              </p:cNvCxnSpPr>
              <p:nvPr/>
            </p:nvCxnSpPr>
            <p:spPr>
              <a:xfrm flipH="1" flipV="1">
                <a:off x="8178086" y="3213100"/>
                <a:ext cx="28370" cy="7229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4949563-0C32-EDFB-64C7-D8CF6B85FC41}"/>
                  </a:ext>
                </a:extLst>
              </p:cNvPr>
              <p:cNvCxnSpPr>
                <a:cxnSpLocks/>
                <a:stCxn id="51" idx="5"/>
                <a:endCxn id="53" idx="3"/>
              </p:cNvCxnSpPr>
              <p:nvPr/>
            </p:nvCxnSpPr>
            <p:spPr>
              <a:xfrm flipV="1">
                <a:off x="8247975" y="3107212"/>
                <a:ext cx="110866" cy="5485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FC10C48-E982-BCAA-DEE4-D5879A584E4B}"/>
                  </a:ext>
                </a:extLst>
              </p:cNvPr>
              <p:cNvCxnSpPr>
                <a:stCxn id="51" idx="0"/>
                <a:endCxn id="52" idx="3"/>
              </p:cNvCxnSpPr>
              <p:nvPr/>
            </p:nvCxnSpPr>
            <p:spPr>
              <a:xfrm flipV="1">
                <a:off x="8125274" y="2905729"/>
                <a:ext cx="34293" cy="8449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5D0983F-F19A-CEBA-BD45-5084CC4FD252}"/>
                  </a:ext>
                </a:extLst>
              </p:cNvPr>
              <p:cNvCxnSpPr>
                <a:stCxn id="52" idx="5"/>
                <a:endCxn id="53" idx="0"/>
              </p:cNvCxnSpPr>
              <p:nvPr/>
            </p:nvCxnSpPr>
            <p:spPr>
              <a:xfrm>
                <a:off x="8306642" y="2843891"/>
                <a:ext cx="131972" cy="6781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F8D9FDA8-3138-A402-86BD-43F86D01E987}"/>
                  </a:ext>
                </a:extLst>
              </p:cNvPr>
              <p:cNvSpPr/>
              <p:nvPr/>
            </p:nvSpPr>
            <p:spPr>
              <a:xfrm rot="19382246">
                <a:off x="8631631" y="2933214"/>
                <a:ext cx="225632" cy="2290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4FD5EE2-12A2-503B-2BDD-DBB34E2672AA}"/>
                  </a:ext>
                </a:extLst>
              </p:cNvPr>
              <p:cNvCxnSpPr>
                <a:stCxn id="53" idx="6"/>
                <a:endCxn id="65" idx="1"/>
              </p:cNvCxnSpPr>
              <p:nvPr/>
            </p:nvCxnSpPr>
            <p:spPr>
              <a:xfrm>
                <a:off x="8551430" y="3026231"/>
                <a:ext cx="80583" cy="476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13EEB68-D022-0366-89D2-027CC6009C21}"/>
                </a:ext>
              </a:extLst>
            </p:cNvPr>
            <p:cNvGrpSpPr/>
            <p:nvPr/>
          </p:nvGrpSpPr>
          <p:grpSpPr>
            <a:xfrm>
              <a:off x="8763482" y="1872325"/>
              <a:ext cx="1325893" cy="671965"/>
              <a:chOff x="7158072" y="2805883"/>
              <a:chExt cx="1325893" cy="67196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B5826E8-C9D5-53C4-65A3-B42C0B1D17E8}"/>
                  </a:ext>
                </a:extLst>
              </p:cNvPr>
              <p:cNvSpPr/>
              <p:nvPr/>
            </p:nvSpPr>
            <p:spPr>
              <a:xfrm rot="1660508">
                <a:off x="7380305" y="2805883"/>
                <a:ext cx="183401" cy="1861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5E49A33-BDB6-66C3-4920-028A00938B3E}"/>
                  </a:ext>
                </a:extLst>
              </p:cNvPr>
              <p:cNvSpPr/>
              <p:nvPr/>
            </p:nvSpPr>
            <p:spPr>
              <a:xfrm rot="2736242">
                <a:off x="7159460" y="2950394"/>
                <a:ext cx="183401" cy="1861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D9253B9-81BA-EF47-A3D5-CB7CDF0A4987}"/>
                  </a:ext>
                </a:extLst>
              </p:cNvPr>
              <p:cNvSpPr/>
              <p:nvPr/>
            </p:nvSpPr>
            <p:spPr>
              <a:xfrm rot="159033">
                <a:off x="7577270" y="3093072"/>
                <a:ext cx="183401" cy="1861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B5EC2A9C-C5A4-BDDD-4DE6-280035EAE5BC}"/>
                  </a:ext>
                </a:extLst>
              </p:cNvPr>
              <p:cNvSpPr/>
              <p:nvPr/>
            </p:nvSpPr>
            <p:spPr>
              <a:xfrm rot="1238502">
                <a:off x="7712098" y="3291671"/>
                <a:ext cx="183401" cy="1861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0E05778-57B5-3E28-B71F-7DEC0B497D92}"/>
                  </a:ext>
                </a:extLst>
              </p:cNvPr>
              <p:cNvSpPr/>
              <p:nvPr/>
            </p:nvSpPr>
            <p:spPr>
              <a:xfrm rot="20231747">
                <a:off x="7859417" y="2961509"/>
                <a:ext cx="183401" cy="1861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663FE9E-4CBD-CAC0-2C96-CE6D77C259E8}"/>
                  </a:ext>
                </a:extLst>
              </p:cNvPr>
              <p:cNvSpPr/>
              <p:nvPr/>
            </p:nvSpPr>
            <p:spPr>
              <a:xfrm>
                <a:off x="8051973" y="3145268"/>
                <a:ext cx="183401" cy="1861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D9476EB-7F01-FE10-3F66-93057E68FAF7}"/>
                  </a:ext>
                </a:extLst>
              </p:cNvPr>
              <p:cNvCxnSpPr>
                <a:cxnSpLocks/>
                <a:stCxn id="31" idx="5"/>
                <a:endCxn id="33" idx="1"/>
              </p:cNvCxnSpPr>
              <p:nvPr/>
            </p:nvCxnSpPr>
            <p:spPr>
              <a:xfrm>
                <a:off x="7498857" y="2987382"/>
                <a:ext cx="108385" cy="1300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1F4EA1D-781C-B6E7-CC91-A778DA1A8119}"/>
                  </a:ext>
                </a:extLst>
              </p:cNvPr>
              <p:cNvCxnSpPr>
                <a:cxnSpLocks/>
                <a:stCxn id="33" idx="5"/>
                <a:endCxn id="34" idx="1"/>
              </p:cNvCxnSpPr>
              <p:nvPr/>
            </p:nvCxnSpPr>
            <p:spPr>
              <a:xfrm>
                <a:off x="7730699" y="3254913"/>
                <a:ext cx="35624" cy="453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6BCC761-C470-821D-D648-3A2CBCD30109}"/>
                  </a:ext>
                </a:extLst>
              </p:cNvPr>
              <p:cNvCxnSpPr>
                <a:cxnSpLocks/>
                <a:stCxn id="35" idx="5"/>
                <a:endCxn id="36" idx="0"/>
              </p:cNvCxnSpPr>
              <p:nvPr/>
            </p:nvCxnSpPr>
            <p:spPr>
              <a:xfrm>
                <a:off x="8036403" y="3090145"/>
                <a:ext cx="107271" cy="5512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6BA4483-A3EF-6740-D41E-0E3566073186}"/>
                  </a:ext>
                </a:extLst>
              </p:cNvPr>
              <p:cNvSpPr/>
              <p:nvPr/>
            </p:nvSpPr>
            <p:spPr>
              <a:xfrm rot="19382246">
                <a:off x="8300564" y="3162749"/>
                <a:ext cx="183401" cy="1861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5A54ED9-F613-E4FD-3636-972256E3D40D}"/>
                  </a:ext>
                </a:extLst>
              </p:cNvPr>
              <p:cNvCxnSpPr>
                <a:cxnSpLocks/>
                <a:stCxn id="36" idx="6"/>
                <a:endCxn id="40" idx="1"/>
              </p:cNvCxnSpPr>
              <p:nvPr/>
            </p:nvCxnSpPr>
            <p:spPr>
              <a:xfrm>
                <a:off x="8235374" y="3238356"/>
                <a:ext cx="65500" cy="387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01B2937-B574-21C3-822B-EEBF5150DAFD}"/>
                  </a:ext>
                </a:extLst>
              </p:cNvPr>
              <p:cNvCxnSpPr>
                <a:stCxn id="32" idx="0"/>
                <a:endCxn id="31" idx="3"/>
              </p:cNvCxnSpPr>
              <p:nvPr/>
            </p:nvCxnSpPr>
            <p:spPr>
              <a:xfrm flipV="1">
                <a:off x="7317675" y="2927148"/>
                <a:ext cx="66334" cy="5120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4FF806D-FC7E-5668-9BF9-58284E733489}"/>
                  </a:ext>
                </a:extLst>
              </p:cNvPr>
              <p:cNvCxnSpPr>
                <a:stCxn id="33" idx="7"/>
                <a:endCxn id="35" idx="2"/>
              </p:cNvCxnSpPr>
              <p:nvPr/>
            </p:nvCxnSpPr>
            <p:spPr>
              <a:xfrm flipV="1">
                <a:off x="7736788" y="3090140"/>
                <a:ext cx="129797" cy="3326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E53D623-7BA8-11EE-6426-89399E3DFC46}"/>
              </a:ext>
            </a:extLst>
          </p:cNvPr>
          <p:cNvSpPr txBox="1"/>
          <p:nvPr userDrawn="1"/>
        </p:nvSpPr>
        <p:spPr>
          <a:xfrm>
            <a:off x="8906274" y="303344"/>
            <a:ext cx="80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Aim 3</a:t>
            </a:r>
          </a:p>
        </p:txBody>
      </p:sp>
      <p:pic>
        <p:nvPicPr>
          <p:cNvPr id="69" name="Content Placeholder 17">
            <a:extLst>
              <a:ext uri="{FF2B5EF4-FFF2-40B4-BE49-F238E27FC236}">
                <a16:creationId xmlns:a16="http://schemas.microsoft.com/office/drawing/2014/main" id="{151A302A-57C1-B224-62E3-A8BAAE26D6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24413" y="191745"/>
            <a:ext cx="573581" cy="576641"/>
          </a:xfrm>
          <a:prstGeom prst="ellipse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D0403AA-FAB8-E65B-E5E0-2FE1DEE67E19}"/>
              </a:ext>
            </a:extLst>
          </p:cNvPr>
          <p:cNvSpPr txBox="1"/>
          <p:nvPr userDrawn="1"/>
        </p:nvSpPr>
        <p:spPr>
          <a:xfrm>
            <a:off x="10805593" y="314126"/>
            <a:ext cx="80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98E95-6A32-E13D-0213-A0A3F58EF32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/>
        </p:blipFill>
        <p:spPr>
          <a:xfrm>
            <a:off x="4113191" y="119033"/>
            <a:ext cx="981310" cy="7377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919297-CFFD-8A79-3297-2B95E3D6AF5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33007"/>
          <a:stretch>
            <a:fillRect/>
          </a:stretch>
        </p:blipFill>
        <p:spPr>
          <a:xfrm>
            <a:off x="2143944" y="48609"/>
            <a:ext cx="1830477" cy="567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AE6600-6F70-408F-8A2B-F6CF70601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/>
        </p:blipFill>
        <p:spPr>
          <a:xfrm>
            <a:off x="8173046" y="127034"/>
            <a:ext cx="664144" cy="6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5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CC05D2-C3B4-7B6E-7517-6ABC2F36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F0336-D051-BDFC-FB5C-67748F168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D7215-EC78-1E25-AB7C-356E3AFF3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5A8D9-5A45-1A4E-AB09-D595B9FEBCA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CF9D9-2214-14EF-3E43-BD105AC73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62DED-33FF-5272-7F67-2B138DCEB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0F8DB-3ECF-4547-BAC3-41F1D2A2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6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11" Type="http://schemas.openxmlformats.org/officeDocument/2006/relationships/image" Target="../media/image170.png"/><Relationship Id="rId5" Type="http://schemas.openxmlformats.org/officeDocument/2006/relationships/image" Target="../media/image11.png"/><Relationship Id="rId15" Type="http://schemas.openxmlformats.org/officeDocument/2006/relationships/image" Target="../media/image19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70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1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ACC64-FC7E-4BE5-8948-3DFBFB08F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45574" y="3601388"/>
            <a:ext cx="4874926" cy="3256612"/>
          </a:xfrm>
        </p:spPr>
        <p:txBody>
          <a:bodyPr>
            <a:normAutofit/>
          </a:bodyPr>
          <a:lstStyle/>
          <a:p>
            <a:r>
              <a:rPr lang="en-AU" dirty="0"/>
              <a:t>Prioritising SNPs for genomic prediction using plant DNA foundation models</a:t>
            </a:r>
          </a:p>
          <a:p>
            <a:endParaRPr lang="en-AU" sz="2000" dirty="0"/>
          </a:p>
          <a:p>
            <a:r>
              <a:rPr lang="en-AU" sz="2000" dirty="0"/>
              <a:t>Thomas Crow</a:t>
            </a:r>
          </a:p>
          <a:p>
            <a:r>
              <a:rPr lang="en-AU" sz="2000" dirty="0"/>
              <a:t>Claire Huang</a:t>
            </a:r>
          </a:p>
          <a:p>
            <a:r>
              <a:rPr lang="en-AU" sz="2000" dirty="0"/>
              <a:t>Dr David Kainer</a:t>
            </a:r>
          </a:p>
        </p:txBody>
      </p:sp>
    </p:spTree>
    <p:extLst>
      <p:ext uri="{BB962C8B-B14F-4D97-AF65-F5344CB8AC3E}">
        <p14:creationId xmlns:p14="http://schemas.microsoft.com/office/powerpoint/2010/main" val="129312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68A2E-EE67-EB67-1946-441A26B4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49242FA-439A-B24F-F7AF-C2EA63EF6A3C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5286730" y="4585457"/>
            <a:ext cx="70072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B2CED68-06C9-47B0-CF9A-7C84005F9CAC}"/>
              </a:ext>
            </a:extLst>
          </p:cNvPr>
          <p:cNvCxnSpPr>
            <a:stCxn id="27" idx="6"/>
          </p:cNvCxnSpPr>
          <p:nvPr/>
        </p:nvCxnSpPr>
        <p:spPr>
          <a:xfrm>
            <a:off x="6866956" y="3123784"/>
            <a:ext cx="88721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9DCB2D6A-9E83-3D89-70CD-D2FB5ADC97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029" b="32262"/>
          <a:stretch>
            <a:fillRect/>
          </a:stretch>
        </p:blipFill>
        <p:spPr>
          <a:xfrm>
            <a:off x="7490697" y="147341"/>
            <a:ext cx="2276425" cy="52832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123AB39-9AC8-EB3C-ABCE-F74A05D83E42}"/>
              </a:ext>
            </a:extLst>
          </p:cNvPr>
          <p:cNvSpPr txBox="1"/>
          <p:nvPr/>
        </p:nvSpPr>
        <p:spPr>
          <a:xfrm>
            <a:off x="8199807" y="559151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Genes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F1A8CAB8-17AB-1E51-7D16-7878F0B9B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744" y="1960172"/>
            <a:ext cx="1460887" cy="980184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5EA38E6-97E6-8CEE-300C-BDB0E127F3C9}"/>
              </a:ext>
            </a:extLst>
          </p:cNvPr>
          <p:cNvSpPr txBox="1"/>
          <p:nvPr/>
        </p:nvSpPr>
        <p:spPr>
          <a:xfrm>
            <a:off x="10143787" y="2794522"/>
            <a:ext cx="1207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Biological </a:t>
            </a:r>
          </a:p>
          <a:p>
            <a:pPr algn="ctr"/>
            <a:r>
              <a:rPr lang="en-US" dirty="0"/>
              <a:t>Networks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87EA412A-87CE-73A0-D8EE-6D2F5839D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778" y="907245"/>
            <a:ext cx="1918594" cy="81254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C8B4ED0-3034-3694-FCC2-FFB5FC8B3F22}"/>
              </a:ext>
            </a:extLst>
          </p:cNvPr>
          <p:cNvSpPr txBox="1"/>
          <p:nvPr/>
        </p:nvSpPr>
        <p:spPr>
          <a:xfrm>
            <a:off x="6613350" y="1681175"/>
            <a:ext cx="81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GWAS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E4D9E117-04A2-F532-A92E-A3562F3349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3056" y="215526"/>
            <a:ext cx="2090644" cy="98018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8277DB4E-92FB-6C1C-B87D-87D8DDB3F31D}"/>
              </a:ext>
            </a:extLst>
          </p:cNvPr>
          <p:cNvSpPr txBox="1"/>
          <p:nvPr/>
        </p:nvSpPr>
        <p:spPr>
          <a:xfrm>
            <a:off x="10337201" y="1036591"/>
            <a:ext cx="127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Expression</a:t>
            </a:r>
          </a:p>
        </p:txBody>
      </p: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F69E8A8D-E15F-3CB0-8AC5-8F92055757DF}"/>
              </a:ext>
            </a:extLst>
          </p:cNvPr>
          <p:cNvCxnSpPr>
            <a:stCxn id="67" idx="2"/>
          </p:cNvCxnSpPr>
          <p:nvPr/>
        </p:nvCxnSpPr>
        <p:spPr>
          <a:xfrm rot="16200000" flipH="1">
            <a:off x="7199528" y="1871844"/>
            <a:ext cx="399757" cy="757081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545ACCA-7AEE-6CC1-120F-BE3AA54F9761}"/>
              </a:ext>
            </a:extLst>
          </p:cNvPr>
          <p:cNvCxnSpPr/>
          <p:nvPr/>
        </p:nvCxnSpPr>
        <p:spPr>
          <a:xfrm>
            <a:off x="8326581" y="907245"/>
            <a:ext cx="0" cy="95859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72E35689-0A8D-B47D-55A3-7322E6FCC376}"/>
              </a:ext>
            </a:extLst>
          </p:cNvPr>
          <p:cNvCxnSpPr/>
          <p:nvPr/>
        </p:nvCxnSpPr>
        <p:spPr>
          <a:xfrm>
            <a:off x="8875986" y="907245"/>
            <a:ext cx="1261476" cy="1096367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FCEDC42-EFDB-FE27-6317-339E0A1048B8}"/>
              </a:ext>
            </a:extLst>
          </p:cNvPr>
          <p:cNvCxnSpPr>
            <a:stCxn id="73" idx="2"/>
          </p:cNvCxnSpPr>
          <p:nvPr/>
        </p:nvCxnSpPr>
        <p:spPr>
          <a:xfrm flipH="1">
            <a:off x="10973785" y="1405923"/>
            <a:ext cx="1" cy="63274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C6160AE-3F6F-156E-A2BA-C8EF16FDEAB4}"/>
              </a:ext>
            </a:extLst>
          </p:cNvPr>
          <p:cNvCxnSpPr/>
          <p:nvPr/>
        </p:nvCxnSpPr>
        <p:spPr>
          <a:xfrm>
            <a:off x="9049399" y="2909252"/>
            <a:ext cx="94365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6262FE9E-FF19-BCAC-8147-B5B85817B560}"/>
              </a:ext>
            </a:extLst>
          </p:cNvPr>
          <p:cNvCxnSpPr>
            <a:endCxn id="32" idx="3"/>
          </p:cNvCxnSpPr>
          <p:nvPr/>
        </p:nvCxnSpPr>
        <p:spPr>
          <a:xfrm rot="5400000">
            <a:off x="8186993" y="4044086"/>
            <a:ext cx="680960" cy="401783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A6EEE10-A059-F3DB-084A-C75CCC2A3340}"/>
              </a:ext>
            </a:extLst>
          </p:cNvPr>
          <p:cNvCxnSpPr>
            <a:cxnSpLocks/>
          </p:cNvCxnSpPr>
          <p:nvPr/>
        </p:nvCxnSpPr>
        <p:spPr>
          <a:xfrm flipH="1" flipV="1">
            <a:off x="9049399" y="3258166"/>
            <a:ext cx="1287802" cy="74862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2B351CE-BCB5-E4EF-2E90-AD23DA780B63}"/>
              </a:ext>
            </a:extLst>
          </p:cNvPr>
          <p:cNvCxnSpPr>
            <a:cxnSpLocks/>
          </p:cNvCxnSpPr>
          <p:nvPr/>
        </p:nvCxnSpPr>
        <p:spPr>
          <a:xfrm flipH="1">
            <a:off x="8326581" y="4849107"/>
            <a:ext cx="181088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373EFC50-0F42-072D-908C-2D98F09B9A3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3007"/>
          <a:stretch>
            <a:fillRect/>
          </a:stretch>
        </p:blipFill>
        <p:spPr>
          <a:xfrm>
            <a:off x="5987454" y="4339180"/>
            <a:ext cx="2339127" cy="49255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202C5C5-E48A-2410-D26B-7761F310F8A4}"/>
              </a:ext>
            </a:extLst>
          </p:cNvPr>
          <p:cNvSpPr txBox="1"/>
          <p:nvPr/>
        </p:nvSpPr>
        <p:spPr>
          <a:xfrm>
            <a:off x="6362666" y="4849107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SNP Selection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A527749-FACE-86AD-CB78-FABC6B3522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7947" y="2003612"/>
            <a:ext cx="1271452" cy="1372718"/>
          </a:xfrm>
          <a:prstGeom prst="ellipse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FD501AA-FCDA-F468-7530-7C9F149C5A90}"/>
              </a:ext>
            </a:extLst>
          </p:cNvPr>
          <p:cNvSpPr txBox="1"/>
          <p:nvPr/>
        </p:nvSpPr>
        <p:spPr>
          <a:xfrm>
            <a:off x="7754173" y="3258166"/>
            <a:ext cx="1276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Biological</a:t>
            </a:r>
          </a:p>
          <a:p>
            <a:pPr algn="ctr"/>
            <a:r>
              <a:rPr lang="en-US" dirty="0"/>
              <a:t>Knowledge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3039509F-D94D-7769-1FE3-D4235ED30C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3044" y="3847764"/>
            <a:ext cx="1028381" cy="1392599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039C8381-4754-5E6C-A81B-535FE2E92D7E}"/>
              </a:ext>
            </a:extLst>
          </p:cNvPr>
          <p:cNvSpPr txBox="1"/>
          <p:nvPr/>
        </p:nvSpPr>
        <p:spPr>
          <a:xfrm>
            <a:off x="9768014" y="5129194"/>
            <a:ext cx="1824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DNA Foundation</a:t>
            </a:r>
          </a:p>
          <a:p>
            <a:pPr algn="ctr"/>
            <a:r>
              <a:rPr lang="en-US" dirty="0"/>
              <a:t>Models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264B02-E9AE-02E6-C6C9-732E03BDBF5A}"/>
              </a:ext>
            </a:extLst>
          </p:cNvPr>
          <p:cNvSpPr/>
          <p:nvPr/>
        </p:nvSpPr>
        <p:spPr>
          <a:xfrm>
            <a:off x="54150" y="848"/>
            <a:ext cx="12083700" cy="600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17">
            <a:extLst>
              <a:ext uri="{FF2B5EF4-FFF2-40B4-BE49-F238E27FC236}">
                <a16:creationId xmlns:a16="http://schemas.microsoft.com/office/drawing/2014/main" id="{BA40E2D4-0A74-4D7E-9E5C-BEF7250163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10"/>
          <a:stretch>
            <a:fillRect/>
          </a:stretch>
        </p:blipFill>
        <p:spPr>
          <a:xfrm>
            <a:off x="290242" y="1654983"/>
            <a:ext cx="1247613" cy="1254269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8452DA-556B-21A5-986B-FDE16A768EBC}"/>
              </a:ext>
            </a:extLst>
          </p:cNvPr>
          <p:cNvSpPr txBox="1"/>
          <p:nvPr/>
        </p:nvSpPr>
        <p:spPr>
          <a:xfrm>
            <a:off x="83128" y="2988730"/>
            <a:ext cx="205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better crops</a:t>
            </a:r>
          </a:p>
          <a:p>
            <a:pPr algn="ctr"/>
            <a:r>
              <a:rPr lang="en-US" dirty="0"/>
              <a:t>through breeding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1763B2-5D02-03E1-706B-F10B540D7A6B}"/>
              </a:ext>
            </a:extLst>
          </p:cNvPr>
          <p:cNvSpPr txBox="1"/>
          <p:nvPr/>
        </p:nvSpPr>
        <p:spPr>
          <a:xfrm>
            <a:off x="2954351" y="2450264"/>
            <a:ext cx="205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to get there: breeder’s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CC9617-A1EA-1B9B-538C-531BCD4DFF01}"/>
                  </a:ext>
                </a:extLst>
              </p:cNvPr>
              <p:cNvSpPr txBox="1"/>
              <p:nvPr/>
            </p:nvSpPr>
            <p:spPr>
              <a:xfrm>
                <a:off x="3086230" y="1992497"/>
                <a:ext cx="191859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</m:t>
                    </m:r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AU" sz="24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	</a:t>
                </a:r>
                <a:r>
                  <a:rPr lang="en-AU" sz="2400" dirty="0">
                    <a:effectLst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CC9617-A1EA-1B9B-538C-531BCD4DF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230" y="1992497"/>
                <a:ext cx="1918594" cy="830997"/>
              </a:xfrm>
              <a:prstGeom prst="rect">
                <a:avLst/>
              </a:prstGeom>
              <a:blipFill>
                <a:blip r:embed="rId11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6EC1A56-4DA5-C1B5-0193-569EB15C1759}"/>
              </a:ext>
            </a:extLst>
          </p:cNvPr>
          <p:cNvCxnSpPr/>
          <p:nvPr/>
        </p:nvCxnSpPr>
        <p:spPr>
          <a:xfrm flipH="1">
            <a:off x="1668203" y="2232837"/>
            <a:ext cx="1286148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176E3BA0-6EBA-F676-33F1-A439C1E4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48" y="376206"/>
            <a:ext cx="6287607" cy="904193"/>
          </a:xfrm>
        </p:spPr>
        <p:txBody>
          <a:bodyPr/>
          <a:lstStyle/>
          <a:p>
            <a:r>
              <a:rPr lang="en-US" dirty="0"/>
              <a:t>Why genomic prediction?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EB4C13-36D8-6B34-09C2-C89B738B9FB6}"/>
              </a:ext>
            </a:extLst>
          </p:cNvPr>
          <p:cNvGrpSpPr/>
          <p:nvPr/>
        </p:nvGrpSpPr>
        <p:grpSpPr>
          <a:xfrm>
            <a:off x="4144447" y="3870301"/>
            <a:ext cx="1023298" cy="840308"/>
            <a:chOff x="6555138" y="4204557"/>
            <a:chExt cx="1767921" cy="145177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853F0D3-F25A-462C-3A0F-772F99980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55138" y="4204557"/>
              <a:ext cx="1767921" cy="145177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41AF866-2A3B-1815-E10C-F252E3780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3850" t="13270" b="5537"/>
            <a:stretch>
              <a:fillRect/>
            </a:stretch>
          </p:blipFill>
          <p:spPr>
            <a:xfrm>
              <a:off x="6861606" y="4440361"/>
              <a:ext cx="1104759" cy="699675"/>
            </a:xfrm>
            <a:prstGeom prst="rect">
              <a:avLst/>
            </a:prstGeom>
          </p:spPr>
        </p:pic>
      </p:grp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29AB46BC-71DB-3268-5B08-E2B413B45E05}"/>
              </a:ext>
            </a:extLst>
          </p:cNvPr>
          <p:cNvCxnSpPr>
            <a:stCxn id="2" idx="1"/>
            <a:endCxn id="10" idx="2"/>
          </p:cNvCxnSpPr>
          <p:nvPr/>
        </p:nvCxnSpPr>
        <p:spPr>
          <a:xfrm rot="10800000">
            <a:off x="3979589" y="3096595"/>
            <a:ext cx="164859" cy="1193860"/>
          </a:xfrm>
          <a:prstGeom prst="bentConnector2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02A39BF-14EB-9C59-AF8F-2645DF839036}"/>
              </a:ext>
            </a:extLst>
          </p:cNvPr>
          <p:cNvCxnSpPr>
            <a:cxnSpLocks/>
            <a:stCxn id="12" idx="0"/>
            <a:endCxn id="10" idx="1"/>
          </p:cNvCxnSpPr>
          <p:nvPr/>
        </p:nvCxnSpPr>
        <p:spPr>
          <a:xfrm rot="5400000" flipH="1" flipV="1">
            <a:off x="2124228" y="3024298"/>
            <a:ext cx="1080991" cy="579256"/>
          </a:xfrm>
          <a:prstGeom prst="bentConnector2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C200B12-D755-C4C5-7350-4B2AA99A95B5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668203" y="3854421"/>
            <a:ext cx="1413783" cy="1295721"/>
          </a:xfrm>
          <a:prstGeom prst="ellipse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88B434D-64F3-18D8-02D5-824EC5FD6D1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27474" y="2554043"/>
            <a:ext cx="1139482" cy="1139482"/>
          </a:xfrm>
          <a:prstGeom prst="ellipse">
            <a:avLst/>
          </a:prstGeom>
        </p:spPr>
      </p:pic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AD4FAFEE-03BA-42BA-3635-5DD660015473}"/>
              </a:ext>
            </a:extLst>
          </p:cNvPr>
          <p:cNvCxnSpPr>
            <a:cxnSpLocks/>
            <a:stCxn id="27" idx="2"/>
            <a:endCxn id="9" idx="3"/>
          </p:cNvCxnSpPr>
          <p:nvPr/>
        </p:nvCxnSpPr>
        <p:spPr>
          <a:xfrm rot="10800000">
            <a:off x="5004824" y="2407996"/>
            <a:ext cx="722650" cy="715788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4220C92-7F2C-5390-893C-121231D734E0}"/>
              </a:ext>
            </a:extLst>
          </p:cNvPr>
          <p:cNvSpPr txBox="1"/>
          <p:nvPr/>
        </p:nvSpPr>
        <p:spPr>
          <a:xfrm>
            <a:off x="1431293" y="4833685"/>
            <a:ext cx="205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Improved</a:t>
            </a:r>
          </a:p>
          <a:p>
            <a:pPr algn="ctr"/>
            <a:r>
              <a:rPr lang="en-US" dirty="0"/>
              <a:t>selection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B1691B-0A0F-83F6-CD5C-DE24D5641EE3}"/>
              </a:ext>
            </a:extLst>
          </p:cNvPr>
          <p:cNvSpPr txBox="1"/>
          <p:nvPr/>
        </p:nvSpPr>
        <p:spPr>
          <a:xfrm>
            <a:off x="3604671" y="4710608"/>
            <a:ext cx="223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Genomic prediction</a:t>
            </a:r>
          </a:p>
          <a:p>
            <a:pPr algn="ctr"/>
            <a:r>
              <a:rPr lang="en-US" dirty="0"/>
              <a:t>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5820AE-D9F1-F1B4-7B49-04DF83399896}"/>
              </a:ext>
            </a:extLst>
          </p:cNvPr>
          <p:cNvSpPr txBox="1"/>
          <p:nvPr/>
        </p:nvSpPr>
        <p:spPr>
          <a:xfrm>
            <a:off x="5578372" y="3669955"/>
            <a:ext cx="1815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Additive</a:t>
            </a:r>
          </a:p>
          <a:p>
            <a:pPr algn="ctr"/>
            <a:r>
              <a:rPr lang="en-US" dirty="0"/>
              <a:t>genetic variance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4E0980-DE72-C563-165E-C89A4D361D47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AED1E-74D9-66D6-145E-D9CBE4203745}"/>
              </a:ext>
            </a:extLst>
          </p:cNvPr>
          <p:cNvSpPr txBox="1"/>
          <p:nvPr/>
        </p:nvSpPr>
        <p:spPr>
          <a:xfrm>
            <a:off x="7601283" y="2531845"/>
            <a:ext cx="4334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breeder’s equation defines the components of measurable improvement.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517A0-43D0-FF90-307C-D2D20746414D}"/>
              </a:ext>
            </a:extLst>
          </p:cNvPr>
          <p:cNvSpPr txBox="1"/>
          <p:nvPr/>
        </p:nvSpPr>
        <p:spPr>
          <a:xfrm>
            <a:off x="7590197" y="928470"/>
            <a:ext cx="4334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Successful breeding comes from measurable improvement.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7D9F04-E400-2FDF-B84F-77937A985612}"/>
              </a:ext>
            </a:extLst>
          </p:cNvPr>
          <p:cNvSpPr txBox="1"/>
          <p:nvPr/>
        </p:nvSpPr>
        <p:spPr>
          <a:xfrm>
            <a:off x="7629471" y="4077560"/>
            <a:ext cx="43346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24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/>
              <a:t> is accuracy of prediction. We can either improve the models or what goes into them.</a:t>
            </a:r>
          </a:p>
        </p:txBody>
      </p:sp>
    </p:spTree>
    <p:extLst>
      <p:ext uri="{BB962C8B-B14F-4D97-AF65-F5344CB8AC3E}">
        <p14:creationId xmlns:p14="http://schemas.microsoft.com/office/powerpoint/2010/main" val="134393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ABD4-7991-4385-C787-A9103286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AB0C81AC-EBEA-5736-364C-20D25F06DF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029" b="32262"/>
          <a:stretch>
            <a:fillRect/>
          </a:stretch>
        </p:blipFill>
        <p:spPr>
          <a:xfrm>
            <a:off x="7490697" y="147341"/>
            <a:ext cx="2276425" cy="52832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7C97C36-09A6-9528-7833-26CEE13DC249}"/>
              </a:ext>
            </a:extLst>
          </p:cNvPr>
          <p:cNvSpPr txBox="1"/>
          <p:nvPr/>
        </p:nvSpPr>
        <p:spPr>
          <a:xfrm>
            <a:off x="8199807" y="559151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Genes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5734FBEA-4B43-71FE-549B-987F65A6D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744" y="1960172"/>
            <a:ext cx="1460887" cy="980184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267834C-AC1B-C8BA-F84F-2A4781F3108C}"/>
              </a:ext>
            </a:extLst>
          </p:cNvPr>
          <p:cNvSpPr txBox="1"/>
          <p:nvPr/>
        </p:nvSpPr>
        <p:spPr>
          <a:xfrm>
            <a:off x="10143787" y="2794522"/>
            <a:ext cx="1207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Biological </a:t>
            </a:r>
          </a:p>
          <a:p>
            <a:pPr algn="ctr"/>
            <a:r>
              <a:rPr lang="en-US" dirty="0"/>
              <a:t>Networks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CBED07B-7321-B8E1-D410-24A9BC3B3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778" y="907245"/>
            <a:ext cx="1918594" cy="81254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FC12452-8244-9357-E764-358627A9897C}"/>
              </a:ext>
            </a:extLst>
          </p:cNvPr>
          <p:cNvSpPr txBox="1"/>
          <p:nvPr/>
        </p:nvSpPr>
        <p:spPr>
          <a:xfrm>
            <a:off x="6613350" y="1681175"/>
            <a:ext cx="81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GWAS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CF536A32-2CEC-29EA-2107-FEB6E37AE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3056" y="215526"/>
            <a:ext cx="2090644" cy="98018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5B6387ED-674B-4046-1D24-B76DA2D6853E}"/>
              </a:ext>
            </a:extLst>
          </p:cNvPr>
          <p:cNvSpPr txBox="1"/>
          <p:nvPr/>
        </p:nvSpPr>
        <p:spPr>
          <a:xfrm>
            <a:off x="10337201" y="1036591"/>
            <a:ext cx="127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Expression</a:t>
            </a:r>
          </a:p>
        </p:txBody>
      </p: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B98BE85D-E793-DFDA-BA5F-4536E44E991F}"/>
              </a:ext>
            </a:extLst>
          </p:cNvPr>
          <p:cNvCxnSpPr>
            <a:stCxn id="67" idx="2"/>
          </p:cNvCxnSpPr>
          <p:nvPr/>
        </p:nvCxnSpPr>
        <p:spPr>
          <a:xfrm rot="16200000" flipH="1">
            <a:off x="7199528" y="1871844"/>
            <a:ext cx="399757" cy="757081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55DF885-18B3-20DD-531A-AA5563E73604}"/>
              </a:ext>
            </a:extLst>
          </p:cNvPr>
          <p:cNvCxnSpPr/>
          <p:nvPr/>
        </p:nvCxnSpPr>
        <p:spPr>
          <a:xfrm>
            <a:off x="8326581" y="907245"/>
            <a:ext cx="0" cy="95859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26B9BB4-8112-BF3E-0A13-9CB466952E14}"/>
              </a:ext>
            </a:extLst>
          </p:cNvPr>
          <p:cNvCxnSpPr/>
          <p:nvPr/>
        </p:nvCxnSpPr>
        <p:spPr>
          <a:xfrm>
            <a:off x="8875986" y="907245"/>
            <a:ext cx="1261476" cy="1096367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49B0ABB-B6AD-1FB6-6D50-89D6C0F50694}"/>
              </a:ext>
            </a:extLst>
          </p:cNvPr>
          <p:cNvCxnSpPr>
            <a:stCxn id="73" idx="2"/>
          </p:cNvCxnSpPr>
          <p:nvPr/>
        </p:nvCxnSpPr>
        <p:spPr>
          <a:xfrm flipH="1">
            <a:off x="10973785" y="1405923"/>
            <a:ext cx="1" cy="63274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7B2DFD2-87F9-2C82-54E9-D2202A6201A0}"/>
              </a:ext>
            </a:extLst>
          </p:cNvPr>
          <p:cNvCxnSpPr/>
          <p:nvPr/>
        </p:nvCxnSpPr>
        <p:spPr>
          <a:xfrm>
            <a:off x="9049399" y="2909252"/>
            <a:ext cx="94365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6EB780C-42DE-A9D4-3291-BCAF5A935853}"/>
              </a:ext>
            </a:extLst>
          </p:cNvPr>
          <p:cNvCxnSpPr>
            <a:cxnSpLocks/>
          </p:cNvCxnSpPr>
          <p:nvPr/>
        </p:nvCxnSpPr>
        <p:spPr>
          <a:xfrm flipH="1" flipV="1">
            <a:off x="9049399" y="3258166"/>
            <a:ext cx="1287802" cy="74862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D4EE875-620D-658C-5857-A99908E00E99}"/>
              </a:ext>
            </a:extLst>
          </p:cNvPr>
          <p:cNvCxnSpPr>
            <a:cxnSpLocks/>
          </p:cNvCxnSpPr>
          <p:nvPr/>
        </p:nvCxnSpPr>
        <p:spPr>
          <a:xfrm flipH="1">
            <a:off x="8326581" y="4849107"/>
            <a:ext cx="181088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9" name="Picture 68">
            <a:extLst>
              <a:ext uri="{FF2B5EF4-FFF2-40B4-BE49-F238E27FC236}">
                <a16:creationId xmlns:a16="http://schemas.microsoft.com/office/drawing/2014/main" id="{A5EBBE24-08C7-4A2C-A2CD-5F683E113F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3044" y="3847764"/>
            <a:ext cx="1028381" cy="1392599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ED93C81-D9DE-A5E0-7E8B-BE67EBF233B3}"/>
              </a:ext>
            </a:extLst>
          </p:cNvPr>
          <p:cNvSpPr txBox="1"/>
          <p:nvPr/>
        </p:nvSpPr>
        <p:spPr>
          <a:xfrm>
            <a:off x="9768014" y="5129194"/>
            <a:ext cx="1824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DNA Foundation</a:t>
            </a:r>
          </a:p>
          <a:p>
            <a:pPr algn="ctr"/>
            <a:r>
              <a:rPr lang="en-US" dirty="0"/>
              <a:t>Models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B99C1E-2F27-B14E-10E1-1E0E583F76F9}"/>
              </a:ext>
            </a:extLst>
          </p:cNvPr>
          <p:cNvSpPr/>
          <p:nvPr/>
        </p:nvSpPr>
        <p:spPr>
          <a:xfrm>
            <a:off x="83128" y="113230"/>
            <a:ext cx="12083700" cy="600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17">
            <a:extLst>
              <a:ext uri="{FF2B5EF4-FFF2-40B4-BE49-F238E27FC236}">
                <a16:creationId xmlns:a16="http://schemas.microsoft.com/office/drawing/2014/main" id="{9B4AB123-A0A7-952E-9445-E319D5F157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8"/>
          <a:stretch>
            <a:fillRect/>
          </a:stretch>
        </p:blipFill>
        <p:spPr>
          <a:xfrm>
            <a:off x="290242" y="1654983"/>
            <a:ext cx="1247613" cy="1254269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89273B-1DEA-52C7-B635-9BD27E7133B2}"/>
              </a:ext>
            </a:extLst>
          </p:cNvPr>
          <p:cNvSpPr txBox="1"/>
          <p:nvPr/>
        </p:nvSpPr>
        <p:spPr>
          <a:xfrm>
            <a:off x="83128" y="2988730"/>
            <a:ext cx="205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better crops</a:t>
            </a:r>
          </a:p>
          <a:p>
            <a:pPr algn="ctr"/>
            <a:r>
              <a:rPr lang="en-US" dirty="0"/>
              <a:t>through breeding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FD8AB-5B0B-F553-29C4-9ADBF979654E}"/>
              </a:ext>
            </a:extLst>
          </p:cNvPr>
          <p:cNvSpPr txBox="1"/>
          <p:nvPr/>
        </p:nvSpPr>
        <p:spPr>
          <a:xfrm>
            <a:off x="2954351" y="2450264"/>
            <a:ext cx="205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to get there: breeder’s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2719E2-6FDC-1F97-667D-837E562D25CE}"/>
                  </a:ext>
                </a:extLst>
              </p:cNvPr>
              <p:cNvSpPr txBox="1"/>
              <p:nvPr/>
            </p:nvSpPr>
            <p:spPr>
              <a:xfrm>
                <a:off x="3086230" y="1992497"/>
                <a:ext cx="191859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</m:t>
                    </m:r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AU" sz="24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	</a:t>
                </a:r>
                <a:r>
                  <a:rPr lang="en-AU" sz="2400" dirty="0">
                    <a:effectLst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2719E2-6FDC-1F97-667D-837E562D2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230" y="1992497"/>
                <a:ext cx="1918594" cy="830997"/>
              </a:xfrm>
              <a:prstGeom prst="rect">
                <a:avLst/>
              </a:prstGeom>
              <a:blipFill>
                <a:blip r:embed="rId9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1AF641D-844B-4CD8-BB8D-CF7E2E6830E6}"/>
              </a:ext>
            </a:extLst>
          </p:cNvPr>
          <p:cNvCxnSpPr/>
          <p:nvPr/>
        </p:nvCxnSpPr>
        <p:spPr>
          <a:xfrm flipH="1">
            <a:off x="1668203" y="2232837"/>
            <a:ext cx="1286148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5302FDDA-A549-8475-B7E0-3298D997A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48" y="376206"/>
            <a:ext cx="7157533" cy="904193"/>
          </a:xfrm>
        </p:spPr>
        <p:txBody>
          <a:bodyPr>
            <a:normAutofit fontScale="90000"/>
          </a:bodyPr>
          <a:lstStyle/>
          <a:p>
            <a:r>
              <a:rPr lang="en-US" dirty="0"/>
              <a:t>Can we improve genomic prediction (GP)?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C63B03-B819-9438-FE5A-5105F47FBBEC}"/>
              </a:ext>
            </a:extLst>
          </p:cNvPr>
          <p:cNvGrpSpPr/>
          <p:nvPr/>
        </p:nvGrpSpPr>
        <p:grpSpPr>
          <a:xfrm>
            <a:off x="4144447" y="3870301"/>
            <a:ext cx="1023298" cy="840308"/>
            <a:chOff x="6555138" y="4204557"/>
            <a:chExt cx="1767921" cy="145177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B49C782-BFB8-5FD0-5FD1-0DF4AF0BC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55138" y="4204557"/>
              <a:ext cx="1767921" cy="145177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8609D76-02C2-BFC7-0A13-8B16DC990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850" t="13270" b="5537"/>
            <a:stretch>
              <a:fillRect/>
            </a:stretch>
          </p:blipFill>
          <p:spPr>
            <a:xfrm>
              <a:off x="6861606" y="4440361"/>
              <a:ext cx="1104759" cy="699675"/>
            </a:xfrm>
            <a:prstGeom prst="rect">
              <a:avLst/>
            </a:prstGeom>
          </p:spPr>
        </p:pic>
      </p:grp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7F15B695-1267-D925-2A24-74C4FC959492}"/>
              </a:ext>
            </a:extLst>
          </p:cNvPr>
          <p:cNvCxnSpPr>
            <a:stCxn id="2" idx="1"/>
            <a:endCxn id="10" idx="2"/>
          </p:cNvCxnSpPr>
          <p:nvPr/>
        </p:nvCxnSpPr>
        <p:spPr>
          <a:xfrm rot="10800000">
            <a:off x="3979589" y="3096595"/>
            <a:ext cx="164859" cy="1193860"/>
          </a:xfrm>
          <a:prstGeom prst="bentConnector2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6EEF104A-3291-1D38-C312-4AFD88A96A3D}"/>
              </a:ext>
            </a:extLst>
          </p:cNvPr>
          <p:cNvCxnSpPr>
            <a:cxnSpLocks/>
            <a:stCxn id="12" idx="0"/>
            <a:endCxn id="10" idx="1"/>
          </p:cNvCxnSpPr>
          <p:nvPr/>
        </p:nvCxnSpPr>
        <p:spPr>
          <a:xfrm rot="5400000" flipH="1" flipV="1">
            <a:off x="2124228" y="3024298"/>
            <a:ext cx="1080991" cy="579256"/>
          </a:xfrm>
          <a:prstGeom prst="bentConnector2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52B4491-46EB-5C2E-FFFA-2329478AC812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68203" y="3854421"/>
            <a:ext cx="1413783" cy="1295721"/>
          </a:xfrm>
          <a:prstGeom prst="ellipse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DBEA8A-8B57-393A-9D80-16EF3E7406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7474" y="2554043"/>
            <a:ext cx="1139482" cy="1139482"/>
          </a:xfrm>
          <a:prstGeom prst="ellipse">
            <a:avLst/>
          </a:prstGeom>
        </p:spPr>
      </p:pic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FF9D5FA-4C1C-3976-7470-EECF6A3B0255}"/>
              </a:ext>
            </a:extLst>
          </p:cNvPr>
          <p:cNvCxnSpPr>
            <a:cxnSpLocks/>
            <a:stCxn id="27" idx="2"/>
            <a:endCxn id="9" idx="3"/>
          </p:cNvCxnSpPr>
          <p:nvPr/>
        </p:nvCxnSpPr>
        <p:spPr>
          <a:xfrm rot="10800000">
            <a:off x="5004824" y="2407996"/>
            <a:ext cx="722650" cy="715788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9FAE023-8C51-0B39-135C-B6CCCD663F21}"/>
              </a:ext>
            </a:extLst>
          </p:cNvPr>
          <p:cNvSpPr txBox="1"/>
          <p:nvPr/>
        </p:nvSpPr>
        <p:spPr>
          <a:xfrm>
            <a:off x="1431293" y="4833685"/>
            <a:ext cx="205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Improved</a:t>
            </a:r>
          </a:p>
          <a:p>
            <a:pPr algn="ctr"/>
            <a:r>
              <a:rPr lang="en-US" dirty="0"/>
              <a:t>selection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127C9-A86A-361D-1006-EE93DE32E089}"/>
              </a:ext>
            </a:extLst>
          </p:cNvPr>
          <p:cNvSpPr txBox="1"/>
          <p:nvPr/>
        </p:nvSpPr>
        <p:spPr>
          <a:xfrm>
            <a:off x="3604671" y="4710608"/>
            <a:ext cx="223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Genomic prediction</a:t>
            </a:r>
          </a:p>
          <a:p>
            <a:pPr algn="ctr"/>
            <a:r>
              <a:rPr lang="en-US" dirty="0"/>
              <a:t>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BC0208-B12B-C2B6-FF4B-61E395B10409}"/>
              </a:ext>
            </a:extLst>
          </p:cNvPr>
          <p:cNvSpPr txBox="1"/>
          <p:nvPr/>
        </p:nvSpPr>
        <p:spPr>
          <a:xfrm>
            <a:off x="5589109" y="3581331"/>
            <a:ext cx="1815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Additive</a:t>
            </a:r>
          </a:p>
          <a:p>
            <a:pPr algn="ctr"/>
            <a:r>
              <a:rPr lang="en-US" dirty="0"/>
              <a:t>genetic variance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AD65173-7D6B-7786-F098-6A5D83AC591C}"/>
              </a:ext>
            </a:extLst>
          </p:cNvPr>
          <p:cNvCxnSpPr>
            <a:stCxn id="27" idx="6"/>
          </p:cNvCxnSpPr>
          <p:nvPr/>
        </p:nvCxnSpPr>
        <p:spPr>
          <a:xfrm>
            <a:off x="6866956" y="3123784"/>
            <a:ext cx="88721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9B843F0C-BC2C-2575-ED52-2C814E7F6A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7947" y="2003612"/>
            <a:ext cx="1271452" cy="1372718"/>
          </a:xfrm>
          <a:prstGeom prst="ellipse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3601846-961B-E62E-C909-0D4020F9E687}"/>
              </a:ext>
            </a:extLst>
          </p:cNvPr>
          <p:cNvSpPr txBox="1"/>
          <p:nvPr/>
        </p:nvSpPr>
        <p:spPr>
          <a:xfrm>
            <a:off x="7763342" y="3258166"/>
            <a:ext cx="1257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Biological</a:t>
            </a:r>
          </a:p>
          <a:p>
            <a:pPr algn="ctr"/>
            <a:r>
              <a:rPr lang="en-US" dirty="0"/>
              <a:t>knowledge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30E95F-5F57-33C2-96BD-3B6E72FBF667}"/>
              </a:ext>
            </a:extLst>
          </p:cNvPr>
          <p:cNvSpPr txBox="1"/>
          <p:nvPr/>
        </p:nvSpPr>
        <p:spPr>
          <a:xfrm>
            <a:off x="6294443" y="4861836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SNP selection</a:t>
            </a:r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A4BD9183-51F1-4269-53C5-05D3F764CD70}"/>
              </a:ext>
            </a:extLst>
          </p:cNvPr>
          <p:cNvCxnSpPr>
            <a:cxnSpLocks/>
          </p:cNvCxnSpPr>
          <p:nvPr/>
        </p:nvCxnSpPr>
        <p:spPr>
          <a:xfrm rot="5400000">
            <a:off x="8186993" y="4044086"/>
            <a:ext cx="680960" cy="401783"/>
          </a:xfrm>
          <a:prstGeom prst="bentConnector2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7604D2C-9879-7F93-457A-388E52695BC8}"/>
              </a:ext>
            </a:extLst>
          </p:cNvPr>
          <p:cNvCxnSpPr>
            <a:cxnSpLocks/>
          </p:cNvCxnSpPr>
          <p:nvPr/>
        </p:nvCxnSpPr>
        <p:spPr>
          <a:xfrm flipH="1">
            <a:off x="5286730" y="4585457"/>
            <a:ext cx="700724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16217C5-018D-6D25-64B4-77FE4746DB83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C5784E-4007-B42E-6043-E787D44D8A0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33007"/>
          <a:stretch>
            <a:fillRect/>
          </a:stretch>
        </p:blipFill>
        <p:spPr>
          <a:xfrm>
            <a:off x="5987454" y="4339180"/>
            <a:ext cx="2339127" cy="49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1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D9ACF2-6642-6D17-9021-8B70B44F016D}"/>
              </a:ext>
            </a:extLst>
          </p:cNvPr>
          <p:cNvSpPr/>
          <p:nvPr/>
        </p:nvSpPr>
        <p:spPr>
          <a:xfrm>
            <a:off x="561893" y="1782376"/>
            <a:ext cx="7267699" cy="22622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24F8C-70E3-AF6B-75C2-32CC164A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use AI for variant effect prediction?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4F92E-5CC8-ED1F-9429-D12843E6452B}"/>
              </a:ext>
            </a:extLst>
          </p:cNvPr>
          <p:cNvSpPr txBox="1"/>
          <p:nvPr/>
        </p:nvSpPr>
        <p:spPr>
          <a:xfrm>
            <a:off x="853828" y="1934776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The Problem: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9E83FE-F9C8-F99D-148E-3660458B2F4B}"/>
              </a:ext>
            </a:extLst>
          </p:cNvPr>
          <p:cNvSpPr/>
          <p:nvPr/>
        </p:nvSpPr>
        <p:spPr>
          <a:xfrm>
            <a:off x="4316335" y="4182508"/>
            <a:ext cx="7267699" cy="18086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64788-9292-DD41-972C-5633486DF387}"/>
              </a:ext>
            </a:extLst>
          </p:cNvPr>
          <p:cNvSpPr txBox="1"/>
          <p:nvPr/>
        </p:nvSpPr>
        <p:spPr>
          <a:xfrm>
            <a:off x="4596740" y="4182507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Our solution: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D723C-0599-1608-7EC5-94E39E8C8FA2}"/>
              </a:ext>
            </a:extLst>
          </p:cNvPr>
          <p:cNvSpPr txBox="1"/>
          <p:nvPr/>
        </p:nvSpPr>
        <p:spPr>
          <a:xfrm>
            <a:off x="4570096" y="4432232"/>
            <a:ext cx="676017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models can learn complex, hidden interactions directly from DNA.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Does AI improve on traditional variant effect prediction?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Testable by comparing SNP scores and genomic prediction accuracy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741F7F-4FB9-71C3-B067-E0EAAC52A166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4603D5-F231-CA86-FB5B-CA829A312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804" y="4094064"/>
            <a:ext cx="2520540" cy="18970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F4E93A-E7F0-5843-0CE9-3A70B74352C8}"/>
              </a:ext>
            </a:extLst>
          </p:cNvPr>
          <p:cNvSpPr txBox="1"/>
          <p:nvPr/>
        </p:nvSpPr>
        <p:spPr>
          <a:xfrm>
            <a:off x="788877" y="3274557"/>
            <a:ext cx="6606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sequence interactions are hard for humans to identify and interpret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E2876A-017A-71D6-BD74-04AC3021AC92}"/>
              </a:ext>
            </a:extLst>
          </p:cNvPr>
          <p:cNvSpPr txBox="1"/>
          <p:nvPr/>
        </p:nvSpPr>
        <p:spPr>
          <a:xfrm>
            <a:off x="788877" y="2400113"/>
            <a:ext cx="6652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variant effect prediction is based on human heuristics </a:t>
            </a:r>
          </a:p>
          <a:p>
            <a:r>
              <a:rPr lang="en-US" dirty="0"/>
              <a:t>               (e.g. STOP codon)</a:t>
            </a:r>
          </a:p>
        </p:txBody>
      </p:sp>
    </p:spTree>
    <p:extLst>
      <p:ext uri="{BB962C8B-B14F-4D97-AF65-F5344CB8AC3E}">
        <p14:creationId xmlns:p14="http://schemas.microsoft.com/office/powerpoint/2010/main" val="152701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543C-2DB6-5D36-DD9E-072DE0B9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C529A2-7845-D93F-8AF2-0D45B5014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30" y="135765"/>
            <a:ext cx="10515600" cy="904193"/>
          </a:xfrm>
        </p:spPr>
        <p:txBody>
          <a:bodyPr/>
          <a:lstStyle/>
          <a:p>
            <a:r>
              <a:rPr lang="en-US" dirty="0"/>
              <a:t>How large language models work</a:t>
            </a:r>
          </a:p>
        </p:txBody>
      </p:sp>
      <p:sp>
        <p:nvSpPr>
          <p:cNvPr id="1188" name="Oval 1187">
            <a:extLst>
              <a:ext uri="{FF2B5EF4-FFF2-40B4-BE49-F238E27FC236}">
                <a16:creationId xmlns:a16="http://schemas.microsoft.com/office/drawing/2014/main" id="{CB0BF1DD-2FF1-5496-06FE-106B79BBCD34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94A089-C4F1-DDFF-F073-F200B1630CB5}"/>
              </a:ext>
            </a:extLst>
          </p:cNvPr>
          <p:cNvGrpSpPr/>
          <p:nvPr/>
        </p:nvGrpSpPr>
        <p:grpSpPr>
          <a:xfrm>
            <a:off x="2927380" y="1371218"/>
            <a:ext cx="8050312" cy="3494969"/>
            <a:chOff x="2206944" y="1460193"/>
            <a:chExt cx="8050312" cy="3494969"/>
          </a:xfrm>
        </p:grpSpPr>
        <p:sp>
          <p:nvSpPr>
            <p:cNvPr id="1080" name="Rounded Rectangle 1079">
              <a:extLst>
                <a:ext uri="{FF2B5EF4-FFF2-40B4-BE49-F238E27FC236}">
                  <a16:creationId xmlns:a16="http://schemas.microsoft.com/office/drawing/2014/main" id="{AE7E2268-03FE-0145-43FC-224E26DE3E85}"/>
                </a:ext>
              </a:extLst>
            </p:cNvPr>
            <p:cNvSpPr/>
            <p:nvPr/>
          </p:nvSpPr>
          <p:spPr>
            <a:xfrm>
              <a:off x="2206944" y="1461368"/>
              <a:ext cx="1174386" cy="2944089"/>
            </a:xfrm>
            <a:prstGeom prst="roundRect">
              <a:avLst>
                <a:gd name="adj" fmla="val 9440"/>
              </a:avLst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81" name="Rounded Rectangle 1080">
              <a:extLst>
                <a:ext uri="{FF2B5EF4-FFF2-40B4-BE49-F238E27FC236}">
                  <a16:creationId xmlns:a16="http://schemas.microsoft.com/office/drawing/2014/main" id="{17F086E6-E958-846C-3895-AD066294C750}"/>
                </a:ext>
              </a:extLst>
            </p:cNvPr>
            <p:cNvSpPr/>
            <p:nvPr/>
          </p:nvSpPr>
          <p:spPr>
            <a:xfrm>
              <a:off x="3611812" y="1478691"/>
              <a:ext cx="1867001" cy="2926766"/>
            </a:xfrm>
            <a:prstGeom prst="roundRect">
              <a:avLst>
                <a:gd name="adj" fmla="val 10262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2" name="Rounded Rectangle 1081">
              <a:extLst>
                <a:ext uri="{FF2B5EF4-FFF2-40B4-BE49-F238E27FC236}">
                  <a16:creationId xmlns:a16="http://schemas.microsoft.com/office/drawing/2014/main" id="{C38C52ED-0D9A-7391-FBC2-55D95BB721EE}"/>
                </a:ext>
              </a:extLst>
            </p:cNvPr>
            <p:cNvSpPr/>
            <p:nvPr/>
          </p:nvSpPr>
          <p:spPr>
            <a:xfrm>
              <a:off x="5709295" y="1460194"/>
              <a:ext cx="2770355" cy="2957610"/>
            </a:xfrm>
            <a:prstGeom prst="roundRect">
              <a:avLst>
                <a:gd name="adj" fmla="val 5947"/>
              </a:avLst>
            </a:prstGeom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64157067-0551-4B4E-FD1B-2B09BBF5896F}"/>
                </a:ext>
              </a:extLst>
            </p:cNvPr>
            <p:cNvSpPr/>
            <p:nvPr/>
          </p:nvSpPr>
          <p:spPr>
            <a:xfrm>
              <a:off x="8710132" y="1460193"/>
              <a:ext cx="1547124" cy="2957609"/>
            </a:xfrm>
            <a:prstGeom prst="roundRect">
              <a:avLst>
                <a:gd name="adj" fmla="val 11675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5" name="Rounded Rectangle 1084">
              <a:extLst>
                <a:ext uri="{FF2B5EF4-FFF2-40B4-BE49-F238E27FC236}">
                  <a16:creationId xmlns:a16="http://schemas.microsoft.com/office/drawing/2014/main" id="{09F1BE35-9C5B-79D2-4B9A-725898C1FC16}"/>
                </a:ext>
              </a:extLst>
            </p:cNvPr>
            <p:cNvSpPr/>
            <p:nvPr/>
          </p:nvSpPr>
          <p:spPr>
            <a:xfrm>
              <a:off x="2370441" y="2213768"/>
              <a:ext cx="815745" cy="29666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The</a:t>
              </a:r>
            </a:p>
          </p:txBody>
        </p:sp>
        <p:sp>
          <p:nvSpPr>
            <p:cNvPr id="1086" name="Rounded Rectangle 1085">
              <a:extLst>
                <a:ext uri="{FF2B5EF4-FFF2-40B4-BE49-F238E27FC236}">
                  <a16:creationId xmlns:a16="http://schemas.microsoft.com/office/drawing/2014/main" id="{42611BE7-8C23-9BC7-BF9F-634D865F8184}"/>
                </a:ext>
              </a:extLst>
            </p:cNvPr>
            <p:cNvSpPr/>
            <p:nvPr/>
          </p:nvSpPr>
          <p:spPr>
            <a:xfrm>
              <a:off x="2370440" y="2623525"/>
              <a:ext cx="815746" cy="29666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quick</a:t>
              </a:r>
            </a:p>
          </p:txBody>
        </p:sp>
        <p:sp>
          <p:nvSpPr>
            <p:cNvPr id="1087" name="Rounded Rectangle 1086">
              <a:extLst>
                <a:ext uri="{FF2B5EF4-FFF2-40B4-BE49-F238E27FC236}">
                  <a16:creationId xmlns:a16="http://schemas.microsoft.com/office/drawing/2014/main" id="{3457D317-55C6-6AB0-3E4D-9167A2198039}"/>
                </a:ext>
              </a:extLst>
            </p:cNvPr>
            <p:cNvSpPr/>
            <p:nvPr/>
          </p:nvSpPr>
          <p:spPr>
            <a:xfrm>
              <a:off x="2370440" y="3033282"/>
              <a:ext cx="815746" cy="29666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brown</a:t>
              </a:r>
            </a:p>
          </p:txBody>
        </p:sp>
        <p:sp>
          <p:nvSpPr>
            <p:cNvPr id="1088" name="Rounded Rectangle 1087">
              <a:extLst>
                <a:ext uri="{FF2B5EF4-FFF2-40B4-BE49-F238E27FC236}">
                  <a16:creationId xmlns:a16="http://schemas.microsoft.com/office/drawing/2014/main" id="{5DF091E3-1078-9488-FD57-25D843004995}"/>
                </a:ext>
              </a:extLst>
            </p:cNvPr>
            <p:cNvSpPr/>
            <p:nvPr/>
          </p:nvSpPr>
          <p:spPr>
            <a:xfrm>
              <a:off x="2370439" y="3443038"/>
              <a:ext cx="815746" cy="29666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fox</a:t>
              </a:r>
            </a:p>
          </p:txBody>
        </p:sp>
        <p:grpSp>
          <p:nvGrpSpPr>
            <p:cNvPr id="1099" name="Group 1098">
              <a:extLst>
                <a:ext uri="{FF2B5EF4-FFF2-40B4-BE49-F238E27FC236}">
                  <a16:creationId xmlns:a16="http://schemas.microsoft.com/office/drawing/2014/main" id="{E20597CC-FC6B-24DD-4AB1-A5BA533E6286}"/>
                </a:ext>
              </a:extLst>
            </p:cNvPr>
            <p:cNvGrpSpPr/>
            <p:nvPr/>
          </p:nvGrpSpPr>
          <p:grpSpPr>
            <a:xfrm>
              <a:off x="4462689" y="2234703"/>
              <a:ext cx="986167" cy="296666"/>
              <a:chOff x="3498112" y="1052732"/>
              <a:chExt cx="1120448" cy="337061"/>
            </a:xfrm>
          </p:grpSpPr>
          <p:sp>
            <p:nvSpPr>
              <p:cNvPr id="1186" name="Rounded Rectangle 1185">
                <a:extLst>
                  <a:ext uri="{FF2B5EF4-FFF2-40B4-BE49-F238E27FC236}">
                    <a16:creationId xmlns:a16="http://schemas.microsoft.com/office/drawing/2014/main" id="{1D76184C-47B1-3EA0-4AE2-1B1BCE9F736C}"/>
                  </a:ext>
                </a:extLst>
              </p:cNvPr>
              <p:cNvSpPr/>
              <p:nvPr/>
            </p:nvSpPr>
            <p:spPr>
              <a:xfrm>
                <a:off x="3498112" y="1052732"/>
                <a:ext cx="1049096" cy="337061"/>
              </a:xfrm>
              <a:prstGeom prst="roundRect">
                <a:avLst>
                  <a:gd name="adj" fmla="val 25145"/>
                </a:avLst>
              </a:prstGeom>
              <a:solidFill>
                <a:srgbClr val="FFDFFF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187" name="TextBox 1186">
                <a:extLst>
                  <a:ext uri="{FF2B5EF4-FFF2-40B4-BE49-F238E27FC236}">
                    <a16:creationId xmlns:a16="http://schemas.microsoft.com/office/drawing/2014/main" id="{98D603C2-4697-4A1D-8BFD-ADB69166C643}"/>
                  </a:ext>
                </a:extLst>
              </p:cNvPr>
              <p:cNvSpPr txBox="1"/>
              <p:nvPr/>
            </p:nvSpPr>
            <p:spPr>
              <a:xfrm>
                <a:off x="3498112" y="1090457"/>
                <a:ext cx="1120448" cy="2622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d</a:t>
                </a:r>
                <a:r>
                  <a:rPr lang="en-US" sz="900" baseline="-25000" dirty="0"/>
                  <a:t>1  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2 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3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4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n </a:t>
                </a:r>
                <a:r>
                  <a:rPr lang="en-US" sz="900" dirty="0"/>
                  <a:t> </a:t>
                </a:r>
              </a:p>
            </p:txBody>
          </p:sp>
        </p:grpSp>
        <p:grpSp>
          <p:nvGrpSpPr>
            <p:cNvPr id="1100" name="Group 1099">
              <a:extLst>
                <a:ext uri="{FF2B5EF4-FFF2-40B4-BE49-F238E27FC236}">
                  <a16:creationId xmlns:a16="http://schemas.microsoft.com/office/drawing/2014/main" id="{5459C920-8854-5B6C-FFC9-393EC918FB81}"/>
                </a:ext>
              </a:extLst>
            </p:cNvPr>
            <p:cNvGrpSpPr/>
            <p:nvPr/>
          </p:nvGrpSpPr>
          <p:grpSpPr>
            <a:xfrm>
              <a:off x="4462689" y="2644460"/>
              <a:ext cx="986167" cy="296666"/>
              <a:chOff x="3498112" y="1052732"/>
              <a:chExt cx="1120448" cy="337061"/>
            </a:xfrm>
          </p:grpSpPr>
          <p:sp>
            <p:nvSpPr>
              <p:cNvPr id="1184" name="Rounded Rectangle 1183">
                <a:extLst>
                  <a:ext uri="{FF2B5EF4-FFF2-40B4-BE49-F238E27FC236}">
                    <a16:creationId xmlns:a16="http://schemas.microsoft.com/office/drawing/2014/main" id="{9587035B-97BD-DB7F-32FB-914C162409DE}"/>
                  </a:ext>
                </a:extLst>
              </p:cNvPr>
              <p:cNvSpPr/>
              <p:nvPr/>
            </p:nvSpPr>
            <p:spPr>
              <a:xfrm>
                <a:off x="3498112" y="1052732"/>
                <a:ext cx="1049096" cy="337061"/>
              </a:xfrm>
              <a:prstGeom prst="roundRect">
                <a:avLst>
                  <a:gd name="adj" fmla="val 25145"/>
                </a:avLst>
              </a:prstGeom>
              <a:solidFill>
                <a:srgbClr val="FFDFFF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185" name="TextBox 1184">
                <a:extLst>
                  <a:ext uri="{FF2B5EF4-FFF2-40B4-BE49-F238E27FC236}">
                    <a16:creationId xmlns:a16="http://schemas.microsoft.com/office/drawing/2014/main" id="{BB86DF01-1F09-259F-5EB0-D789C3AB4ED3}"/>
                  </a:ext>
                </a:extLst>
              </p:cNvPr>
              <p:cNvSpPr txBox="1"/>
              <p:nvPr/>
            </p:nvSpPr>
            <p:spPr>
              <a:xfrm>
                <a:off x="3498112" y="1090457"/>
                <a:ext cx="1120448" cy="2622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d</a:t>
                </a:r>
                <a:r>
                  <a:rPr lang="en-US" sz="900" baseline="-25000" dirty="0"/>
                  <a:t>1  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2 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3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4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n </a:t>
                </a:r>
                <a:r>
                  <a:rPr lang="en-US" sz="900" dirty="0"/>
                  <a:t> </a:t>
                </a:r>
              </a:p>
            </p:txBody>
          </p:sp>
        </p:grpSp>
        <p:grpSp>
          <p:nvGrpSpPr>
            <p:cNvPr id="1101" name="Group 1100">
              <a:extLst>
                <a:ext uri="{FF2B5EF4-FFF2-40B4-BE49-F238E27FC236}">
                  <a16:creationId xmlns:a16="http://schemas.microsoft.com/office/drawing/2014/main" id="{390898A8-3522-6FA8-7714-D0EAF367F2D0}"/>
                </a:ext>
              </a:extLst>
            </p:cNvPr>
            <p:cNvGrpSpPr/>
            <p:nvPr/>
          </p:nvGrpSpPr>
          <p:grpSpPr>
            <a:xfrm>
              <a:off x="4453744" y="3050594"/>
              <a:ext cx="986167" cy="296666"/>
              <a:chOff x="3498112" y="1052732"/>
              <a:chExt cx="1120448" cy="337061"/>
            </a:xfrm>
          </p:grpSpPr>
          <p:sp>
            <p:nvSpPr>
              <p:cNvPr id="1182" name="Rounded Rectangle 1181">
                <a:extLst>
                  <a:ext uri="{FF2B5EF4-FFF2-40B4-BE49-F238E27FC236}">
                    <a16:creationId xmlns:a16="http://schemas.microsoft.com/office/drawing/2014/main" id="{294CBC17-2B12-7C85-A582-E46583FBE332}"/>
                  </a:ext>
                </a:extLst>
              </p:cNvPr>
              <p:cNvSpPr/>
              <p:nvPr/>
            </p:nvSpPr>
            <p:spPr>
              <a:xfrm>
                <a:off x="3498112" y="1052732"/>
                <a:ext cx="1049096" cy="337061"/>
              </a:xfrm>
              <a:prstGeom prst="roundRect">
                <a:avLst>
                  <a:gd name="adj" fmla="val 25145"/>
                </a:avLst>
              </a:prstGeom>
              <a:solidFill>
                <a:srgbClr val="FFDFFF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8E7C2F9C-F557-CF62-C560-F03A9073BD25}"/>
                  </a:ext>
                </a:extLst>
              </p:cNvPr>
              <p:cNvSpPr txBox="1"/>
              <p:nvPr/>
            </p:nvSpPr>
            <p:spPr>
              <a:xfrm>
                <a:off x="3498112" y="1090457"/>
                <a:ext cx="1120448" cy="2622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d</a:t>
                </a:r>
                <a:r>
                  <a:rPr lang="en-US" sz="900" baseline="-25000" dirty="0"/>
                  <a:t>1  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2 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3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4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n </a:t>
                </a:r>
                <a:r>
                  <a:rPr lang="en-US" sz="900" dirty="0"/>
                  <a:t> </a:t>
                </a:r>
              </a:p>
            </p:txBody>
          </p:sp>
        </p:grpSp>
        <p:grpSp>
          <p:nvGrpSpPr>
            <p:cNvPr id="1102" name="Group 1101">
              <a:extLst>
                <a:ext uri="{FF2B5EF4-FFF2-40B4-BE49-F238E27FC236}">
                  <a16:creationId xmlns:a16="http://schemas.microsoft.com/office/drawing/2014/main" id="{B5F77862-FB47-D425-F6F1-BA6CD983A344}"/>
                </a:ext>
              </a:extLst>
            </p:cNvPr>
            <p:cNvGrpSpPr/>
            <p:nvPr/>
          </p:nvGrpSpPr>
          <p:grpSpPr>
            <a:xfrm>
              <a:off x="4462689" y="3456894"/>
              <a:ext cx="986167" cy="296666"/>
              <a:chOff x="3498112" y="1052732"/>
              <a:chExt cx="1120448" cy="337061"/>
            </a:xfrm>
          </p:grpSpPr>
          <p:sp>
            <p:nvSpPr>
              <p:cNvPr id="1180" name="Rounded Rectangle 1179">
                <a:extLst>
                  <a:ext uri="{FF2B5EF4-FFF2-40B4-BE49-F238E27FC236}">
                    <a16:creationId xmlns:a16="http://schemas.microsoft.com/office/drawing/2014/main" id="{8BBAD06A-B13A-997B-5DD4-B8B799EC2977}"/>
                  </a:ext>
                </a:extLst>
              </p:cNvPr>
              <p:cNvSpPr/>
              <p:nvPr/>
            </p:nvSpPr>
            <p:spPr>
              <a:xfrm>
                <a:off x="3498112" y="1052732"/>
                <a:ext cx="1049096" cy="337061"/>
              </a:xfrm>
              <a:prstGeom prst="roundRect">
                <a:avLst>
                  <a:gd name="adj" fmla="val 25145"/>
                </a:avLst>
              </a:prstGeom>
              <a:solidFill>
                <a:srgbClr val="FFDFFF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181" name="TextBox 1180">
                <a:extLst>
                  <a:ext uri="{FF2B5EF4-FFF2-40B4-BE49-F238E27FC236}">
                    <a16:creationId xmlns:a16="http://schemas.microsoft.com/office/drawing/2014/main" id="{2960CE96-CAAF-AE49-25C1-00DF255570F9}"/>
                  </a:ext>
                </a:extLst>
              </p:cNvPr>
              <p:cNvSpPr txBox="1"/>
              <p:nvPr/>
            </p:nvSpPr>
            <p:spPr>
              <a:xfrm>
                <a:off x="3498112" y="1090457"/>
                <a:ext cx="1120448" cy="2622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d</a:t>
                </a:r>
                <a:r>
                  <a:rPr lang="en-US" sz="900" baseline="-25000" dirty="0"/>
                  <a:t>1  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2 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3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4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d</a:t>
                </a:r>
                <a:r>
                  <a:rPr lang="en-US" sz="900" baseline="-25000" dirty="0"/>
                  <a:t>n </a:t>
                </a:r>
                <a:r>
                  <a:rPr lang="en-US" sz="900" dirty="0"/>
                  <a:t> </a:t>
                </a:r>
              </a:p>
            </p:txBody>
          </p:sp>
        </p:grpSp>
        <p:sp>
          <p:nvSpPr>
            <p:cNvPr id="1106" name="TextBox 1105">
              <a:extLst>
                <a:ext uri="{FF2B5EF4-FFF2-40B4-BE49-F238E27FC236}">
                  <a16:creationId xmlns:a16="http://schemas.microsoft.com/office/drawing/2014/main" id="{A74E7E28-8454-F346-8638-3A8770BAEFB8}"/>
                </a:ext>
              </a:extLst>
            </p:cNvPr>
            <p:cNvSpPr txBox="1"/>
            <p:nvPr/>
          </p:nvSpPr>
          <p:spPr>
            <a:xfrm>
              <a:off x="3709354" y="2238392"/>
              <a:ext cx="4379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The</a:t>
              </a:r>
            </a:p>
          </p:txBody>
        </p:sp>
        <p:sp>
          <p:nvSpPr>
            <p:cNvPr id="1107" name="TextBox 1106">
              <a:extLst>
                <a:ext uri="{FF2B5EF4-FFF2-40B4-BE49-F238E27FC236}">
                  <a16:creationId xmlns:a16="http://schemas.microsoft.com/office/drawing/2014/main" id="{A9911DE3-FEF0-534E-FE20-5D19EEF29135}"/>
                </a:ext>
              </a:extLst>
            </p:cNvPr>
            <p:cNvSpPr txBox="1"/>
            <p:nvPr/>
          </p:nvSpPr>
          <p:spPr>
            <a:xfrm>
              <a:off x="3692630" y="2650263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quick</a:t>
              </a:r>
            </a:p>
          </p:txBody>
        </p:sp>
        <p:sp>
          <p:nvSpPr>
            <p:cNvPr id="1108" name="TextBox 1107">
              <a:extLst>
                <a:ext uri="{FF2B5EF4-FFF2-40B4-BE49-F238E27FC236}">
                  <a16:creationId xmlns:a16="http://schemas.microsoft.com/office/drawing/2014/main" id="{1A2C2536-6EEF-4D21-B5E7-C401C1BA4D11}"/>
                </a:ext>
              </a:extLst>
            </p:cNvPr>
            <p:cNvSpPr txBox="1"/>
            <p:nvPr/>
          </p:nvSpPr>
          <p:spPr>
            <a:xfrm>
              <a:off x="3692630" y="3050594"/>
              <a:ext cx="5854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brown</a:t>
              </a:r>
            </a:p>
          </p:txBody>
        </p: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D189E044-9415-EE6C-A13C-597B18FBC383}"/>
                </a:ext>
              </a:extLst>
            </p:cNvPr>
            <p:cNvSpPr txBox="1"/>
            <p:nvPr/>
          </p:nvSpPr>
          <p:spPr>
            <a:xfrm>
              <a:off x="3678871" y="3464925"/>
              <a:ext cx="381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fox</a:t>
              </a:r>
            </a:p>
          </p:txBody>
        </p:sp>
        <p:grpSp>
          <p:nvGrpSpPr>
            <p:cNvPr id="1140" name="Group 1139">
              <a:extLst>
                <a:ext uri="{FF2B5EF4-FFF2-40B4-BE49-F238E27FC236}">
                  <a16:creationId xmlns:a16="http://schemas.microsoft.com/office/drawing/2014/main" id="{8342FEBB-4438-F44A-131B-92E25EE5B46C}"/>
                </a:ext>
              </a:extLst>
            </p:cNvPr>
            <p:cNvGrpSpPr/>
            <p:nvPr/>
          </p:nvGrpSpPr>
          <p:grpSpPr>
            <a:xfrm>
              <a:off x="8988633" y="2050486"/>
              <a:ext cx="1016123" cy="296666"/>
              <a:chOff x="3498112" y="1052732"/>
              <a:chExt cx="1154483" cy="337061"/>
            </a:xfrm>
            <a:solidFill>
              <a:srgbClr val="FFB0C1"/>
            </a:solidFill>
          </p:grpSpPr>
          <p:sp>
            <p:nvSpPr>
              <p:cNvPr id="1158" name="Rounded Rectangle 1157">
                <a:extLst>
                  <a:ext uri="{FF2B5EF4-FFF2-40B4-BE49-F238E27FC236}">
                    <a16:creationId xmlns:a16="http://schemas.microsoft.com/office/drawing/2014/main" id="{81CDF884-598E-5053-E0B4-CC7692C8A970}"/>
                  </a:ext>
                </a:extLst>
              </p:cNvPr>
              <p:cNvSpPr/>
              <p:nvPr/>
            </p:nvSpPr>
            <p:spPr>
              <a:xfrm>
                <a:off x="3498112" y="1052732"/>
                <a:ext cx="1049096" cy="337061"/>
              </a:xfrm>
              <a:prstGeom prst="roundRect">
                <a:avLst>
                  <a:gd name="adj" fmla="val 25145"/>
                </a:avLst>
              </a:prstGeom>
              <a:grpFill/>
              <a:ln>
                <a:solidFill>
                  <a:srgbClr val="E8080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159" name="TextBox 1158">
                <a:extLst>
                  <a:ext uri="{FF2B5EF4-FFF2-40B4-BE49-F238E27FC236}">
                    <a16:creationId xmlns:a16="http://schemas.microsoft.com/office/drawing/2014/main" id="{86D2CE89-EBA8-0FB6-6B8F-959D0CAECF12}"/>
                  </a:ext>
                </a:extLst>
              </p:cNvPr>
              <p:cNvSpPr txBox="1"/>
              <p:nvPr/>
            </p:nvSpPr>
            <p:spPr>
              <a:xfrm>
                <a:off x="3498112" y="1090457"/>
                <a:ext cx="1154483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h</a:t>
                </a:r>
                <a:r>
                  <a:rPr lang="en-US" sz="900" baseline="-25000" dirty="0"/>
                  <a:t>1    </a:t>
                </a:r>
                <a:r>
                  <a:rPr lang="en-US" sz="900" dirty="0"/>
                  <a:t>h</a:t>
                </a:r>
                <a:r>
                  <a:rPr lang="en-US" sz="900" baseline="-25000" dirty="0"/>
                  <a:t>2 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</a:t>
                </a:r>
                <a:r>
                  <a:rPr lang="en-US" sz="900" dirty="0"/>
                  <a:t>h</a:t>
                </a:r>
                <a:r>
                  <a:rPr lang="en-US" sz="900" baseline="-25000" dirty="0"/>
                  <a:t>3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h</a:t>
                </a:r>
                <a:r>
                  <a:rPr lang="en-US" sz="900" baseline="-25000" dirty="0"/>
                  <a:t>4</a:t>
                </a:r>
                <a:r>
                  <a:rPr lang="en-US" sz="900" dirty="0"/>
                  <a:t> </a:t>
                </a:r>
                <a:r>
                  <a:rPr lang="en-US" sz="900" baseline="-25000" dirty="0"/>
                  <a:t>  </a:t>
                </a:r>
                <a:r>
                  <a:rPr lang="en-US" sz="900" dirty="0"/>
                  <a:t>h</a:t>
                </a:r>
                <a:r>
                  <a:rPr lang="en-US" sz="900" baseline="-25000" dirty="0"/>
                  <a:t>n </a:t>
                </a:r>
                <a:r>
                  <a:rPr lang="en-US" sz="900" dirty="0"/>
                  <a:t> </a:t>
                </a:r>
              </a:p>
            </p:txBody>
          </p:sp>
        </p:grpSp>
        <p:sp>
          <p:nvSpPr>
            <p:cNvPr id="1141" name="TextBox 1140">
              <a:extLst>
                <a:ext uri="{FF2B5EF4-FFF2-40B4-BE49-F238E27FC236}">
                  <a16:creationId xmlns:a16="http://schemas.microsoft.com/office/drawing/2014/main" id="{F2E7B7F4-4A53-753D-C597-5B663634027C}"/>
                </a:ext>
              </a:extLst>
            </p:cNvPr>
            <p:cNvSpPr txBox="1"/>
            <p:nvPr/>
          </p:nvSpPr>
          <p:spPr>
            <a:xfrm>
              <a:off x="2281437" y="155463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Input</a:t>
              </a:r>
            </a:p>
          </p:txBody>
        </p:sp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5FE6ABBD-B153-9233-479F-BE0FFEE308C9}"/>
                </a:ext>
              </a:extLst>
            </p:cNvPr>
            <p:cNvSpPr txBox="1"/>
            <p:nvPr/>
          </p:nvSpPr>
          <p:spPr>
            <a:xfrm>
              <a:off x="3751546" y="1602253"/>
              <a:ext cx="1615751" cy="325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Input Embeddings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26EB55AB-89A4-D992-F628-E74F0A92287C}"/>
                </a:ext>
              </a:extLst>
            </p:cNvPr>
            <p:cNvSpPr txBox="1"/>
            <p:nvPr/>
          </p:nvSpPr>
          <p:spPr>
            <a:xfrm>
              <a:off x="6017595" y="1551077"/>
              <a:ext cx="2196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Large language model</a:t>
              </a:r>
            </a:p>
          </p:txBody>
        </p:sp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B6B2A196-0786-44B9-9581-1A8B84AE14EB}"/>
                </a:ext>
              </a:extLst>
            </p:cNvPr>
            <p:cNvSpPr txBox="1"/>
            <p:nvPr/>
          </p:nvSpPr>
          <p:spPr>
            <a:xfrm>
              <a:off x="8746039" y="1563423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Prediction</a:t>
              </a:r>
            </a:p>
          </p:txBody>
        </p:sp>
        <p:grpSp>
          <p:nvGrpSpPr>
            <p:cNvPr id="1146" name="Group 1145">
              <a:extLst>
                <a:ext uri="{FF2B5EF4-FFF2-40B4-BE49-F238E27FC236}">
                  <a16:creationId xmlns:a16="http://schemas.microsoft.com/office/drawing/2014/main" id="{9F930048-70AC-E79B-685B-5BD08F25E704}"/>
                </a:ext>
              </a:extLst>
            </p:cNvPr>
            <p:cNvGrpSpPr/>
            <p:nvPr/>
          </p:nvGrpSpPr>
          <p:grpSpPr>
            <a:xfrm>
              <a:off x="9022314" y="4537545"/>
              <a:ext cx="815745" cy="417617"/>
              <a:chOff x="10596527" y="4886413"/>
              <a:chExt cx="926820" cy="474482"/>
            </a:xfrm>
          </p:grpSpPr>
          <p:sp>
            <p:nvSpPr>
              <p:cNvPr id="1156" name="Rounded Rectangle 1155">
                <a:extLst>
                  <a:ext uri="{FF2B5EF4-FFF2-40B4-BE49-F238E27FC236}">
                    <a16:creationId xmlns:a16="http://schemas.microsoft.com/office/drawing/2014/main" id="{F220389E-2338-4BBA-A7DA-E57D15950A06}"/>
                  </a:ext>
                </a:extLst>
              </p:cNvPr>
              <p:cNvSpPr/>
              <p:nvPr/>
            </p:nvSpPr>
            <p:spPr>
              <a:xfrm>
                <a:off x="10596527" y="4886413"/>
                <a:ext cx="926820" cy="474482"/>
              </a:xfrm>
              <a:prstGeom prst="roundRect">
                <a:avLst>
                  <a:gd name="adj" fmla="val 10589"/>
                </a:avLst>
              </a:prstGeom>
              <a:solidFill>
                <a:srgbClr val="F5FAF3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57" name="TextBox 1156">
                <a:extLst>
                  <a:ext uri="{FF2B5EF4-FFF2-40B4-BE49-F238E27FC236}">
                    <a16:creationId xmlns:a16="http://schemas.microsoft.com/office/drawing/2014/main" id="{1E3C6FC7-803B-5BC1-ED1A-B4A38CF78178}"/>
                  </a:ext>
                </a:extLst>
              </p:cNvPr>
              <p:cNvSpPr txBox="1"/>
              <p:nvPr/>
            </p:nvSpPr>
            <p:spPr>
              <a:xfrm>
                <a:off x="10731925" y="4969766"/>
                <a:ext cx="656023" cy="34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 Narrow" panose="020B0604020202020204" pitchFamily="34" charset="0"/>
                    <a:cs typeface="Arial Narrow" panose="020B0604020202020204" pitchFamily="34" charset="0"/>
                  </a:rPr>
                  <a:t>jumps</a:t>
                </a:r>
              </a:p>
            </p:txBody>
          </p:sp>
        </p:grpSp>
        <p:sp>
          <p:nvSpPr>
            <p:cNvPr id="1148" name="Down Arrow 1147">
              <a:extLst>
                <a:ext uri="{FF2B5EF4-FFF2-40B4-BE49-F238E27FC236}">
                  <a16:creationId xmlns:a16="http://schemas.microsoft.com/office/drawing/2014/main" id="{1CAA4E7E-9802-B502-E5A4-C3C470EE2284}"/>
                </a:ext>
              </a:extLst>
            </p:cNvPr>
            <p:cNvSpPr/>
            <p:nvPr/>
          </p:nvSpPr>
          <p:spPr>
            <a:xfrm>
              <a:off x="9309073" y="4280826"/>
              <a:ext cx="201286" cy="39168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1" name="Right Arrow 1150">
              <a:extLst>
                <a:ext uri="{FF2B5EF4-FFF2-40B4-BE49-F238E27FC236}">
                  <a16:creationId xmlns:a16="http://schemas.microsoft.com/office/drawing/2014/main" id="{88647046-06E1-49A1-00C2-18B5E8534D01}"/>
                </a:ext>
              </a:extLst>
            </p:cNvPr>
            <p:cNvSpPr/>
            <p:nvPr/>
          </p:nvSpPr>
          <p:spPr>
            <a:xfrm>
              <a:off x="3333588" y="2674624"/>
              <a:ext cx="352037" cy="34901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2" name="Right Arrow 1151">
              <a:extLst>
                <a:ext uri="{FF2B5EF4-FFF2-40B4-BE49-F238E27FC236}">
                  <a16:creationId xmlns:a16="http://schemas.microsoft.com/office/drawing/2014/main" id="{C9A30561-E8D3-2357-9AAE-AD1E49159F96}"/>
                </a:ext>
              </a:extLst>
            </p:cNvPr>
            <p:cNvSpPr/>
            <p:nvPr/>
          </p:nvSpPr>
          <p:spPr>
            <a:xfrm>
              <a:off x="5436218" y="2672048"/>
              <a:ext cx="352037" cy="34901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4" name="Right Arrow 1153">
              <a:extLst>
                <a:ext uri="{FF2B5EF4-FFF2-40B4-BE49-F238E27FC236}">
                  <a16:creationId xmlns:a16="http://schemas.microsoft.com/office/drawing/2014/main" id="{D03F6228-E193-9257-B7DF-D3ABFA600D79}"/>
                </a:ext>
              </a:extLst>
            </p:cNvPr>
            <p:cNvSpPr/>
            <p:nvPr/>
          </p:nvSpPr>
          <p:spPr>
            <a:xfrm>
              <a:off x="8441356" y="2684272"/>
              <a:ext cx="352037" cy="34901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859723B-D658-CD10-DE92-52F83A36E82E}"/>
                </a:ext>
              </a:extLst>
            </p:cNvPr>
            <p:cNvSpPr/>
            <p:nvPr/>
          </p:nvSpPr>
          <p:spPr>
            <a:xfrm>
              <a:off x="8893556" y="2680436"/>
              <a:ext cx="1111202" cy="29666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jumps = 0.80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8C42B11-C08A-85CA-B79D-BF999A1958F5}"/>
                </a:ext>
              </a:extLst>
            </p:cNvPr>
            <p:cNvCxnSpPr>
              <a:cxnSpLocks/>
              <a:stCxn id="1158" idx="2"/>
            </p:cNvCxnSpPr>
            <p:nvPr/>
          </p:nvCxnSpPr>
          <p:spPr>
            <a:xfrm flipH="1">
              <a:off x="9448944" y="2347152"/>
              <a:ext cx="1372" cy="305479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2447EA1-C409-6C04-00F8-F1CAA49F165B}"/>
                </a:ext>
              </a:extLst>
            </p:cNvPr>
            <p:cNvSpPr/>
            <p:nvPr/>
          </p:nvSpPr>
          <p:spPr>
            <a:xfrm>
              <a:off x="8908310" y="3083798"/>
              <a:ext cx="1096448" cy="29666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says = 0.72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0A106BEB-91A9-7685-227F-930DAA61118B}"/>
                </a:ext>
              </a:extLst>
            </p:cNvPr>
            <p:cNvSpPr/>
            <p:nvPr/>
          </p:nvSpPr>
          <p:spPr>
            <a:xfrm>
              <a:off x="8908309" y="3476036"/>
              <a:ext cx="1096447" cy="29666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runs = 0.36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984EDB-4EB6-8A28-CFEF-6CE16B785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63272" y="1951034"/>
              <a:ext cx="2450822" cy="1788670"/>
            </a:xfrm>
            <a:prstGeom prst="rect">
              <a:avLst/>
            </a:prstGeom>
          </p:spPr>
        </p:pic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39E68CA-38FF-8F1F-D7C8-991D60D3DE34}"/>
                </a:ext>
              </a:extLst>
            </p:cNvPr>
            <p:cNvSpPr/>
            <p:nvPr/>
          </p:nvSpPr>
          <p:spPr>
            <a:xfrm>
              <a:off x="2367819" y="3881176"/>
              <a:ext cx="815746" cy="29666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?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A9DB791C-5939-5A9C-C6F3-053592D24B2D}"/>
                </a:ext>
              </a:extLst>
            </p:cNvPr>
            <p:cNvSpPr/>
            <p:nvPr/>
          </p:nvSpPr>
          <p:spPr>
            <a:xfrm>
              <a:off x="8922873" y="3869620"/>
              <a:ext cx="1096447" cy="29666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eats = 0.36</a:t>
              </a:r>
            </a:p>
          </p:txBody>
        </p:sp>
      </p:grpSp>
      <p:pic>
        <p:nvPicPr>
          <p:cNvPr id="24" name="Picture 2">
            <a:extLst>
              <a:ext uri="{FF2B5EF4-FFF2-40B4-BE49-F238E27FC236}">
                <a16:creationId xmlns:a16="http://schemas.microsoft.com/office/drawing/2014/main" id="{AF4C555E-F55E-1395-09E8-C1FF27E35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2" y="3017723"/>
            <a:ext cx="1967949" cy="109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CBE01451-234A-AE92-2734-B2A9ABACCE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8" t="24614" r="17984" b="26257"/>
          <a:stretch>
            <a:fillRect/>
          </a:stretch>
        </p:blipFill>
        <p:spPr bwMode="auto">
          <a:xfrm>
            <a:off x="364851" y="3897060"/>
            <a:ext cx="2186609" cy="98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4D8A6977-4736-F1AD-F813-4DE0B7DF0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083" y="4827129"/>
            <a:ext cx="1091852" cy="109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101450-2738-2559-4312-B769428216DE}"/>
              </a:ext>
            </a:extLst>
          </p:cNvPr>
          <p:cNvSpPr txBox="1"/>
          <p:nvPr/>
        </p:nvSpPr>
        <p:spPr>
          <a:xfrm>
            <a:off x="6543172" y="3572735"/>
            <a:ext cx="2527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trained on millions of texts to learn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A8C6F-3FF2-F4F6-55E0-FE5CC98EDCA6}"/>
              </a:ext>
            </a:extLst>
          </p:cNvPr>
          <p:cNvSpPr txBox="1"/>
          <p:nvPr/>
        </p:nvSpPr>
        <p:spPr>
          <a:xfrm>
            <a:off x="372793" y="1779584"/>
            <a:ext cx="1838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trained to learn and understand the structure of language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988D1-A18F-63AA-A8F1-0935151A711B}"/>
              </a:ext>
            </a:extLst>
          </p:cNvPr>
          <p:cNvSpPr txBox="1"/>
          <p:nvPr/>
        </p:nvSpPr>
        <p:spPr>
          <a:xfrm>
            <a:off x="4377173" y="3764569"/>
            <a:ext cx="1838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(meaning and context)</a:t>
            </a:r>
          </a:p>
        </p:txBody>
      </p:sp>
      <p:pic>
        <p:nvPicPr>
          <p:cNvPr id="7" name="Picture 6" descr="Associate Professor Yoni Nazarathy">
            <a:extLst>
              <a:ext uri="{FF2B5EF4-FFF2-40B4-BE49-F238E27FC236}">
                <a16:creationId xmlns:a16="http://schemas.microsoft.com/office/drawing/2014/main" id="{76B1B28C-D065-92AC-E522-32C0361AE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8627" y="4657378"/>
            <a:ext cx="1473102" cy="1473102"/>
          </a:xfrm>
          <a:prstGeom prst="ellipse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967262-A526-AC82-9172-3D10BD84C522}"/>
              </a:ext>
            </a:extLst>
          </p:cNvPr>
          <p:cNvSpPr txBox="1"/>
          <p:nvPr/>
        </p:nvSpPr>
        <p:spPr>
          <a:xfrm>
            <a:off x="8886893" y="5263652"/>
            <a:ext cx="18382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Day 1: </a:t>
            </a:r>
          </a:p>
          <a:p>
            <a:r>
              <a:rPr lang="en-US" sz="1400" dirty="0"/>
              <a:t>Transformers with Yoni Nazarathy</a:t>
            </a:r>
          </a:p>
        </p:txBody>
      </p:sp>
    </p:spTree>
    <p:extLst>
      <p:ext uri="{BB962C8B-B14F-4D97-AF65-F5344CB8AC3E}">
        <p14:creationId xmlns:p14="http://schemas.microsoft.com/office/powerpoint/2010/main" val="1980827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E946-3721-1960-78E8-424D08B7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1061">
            <a:extLst>
              <a:ext uri="{FF2B5EF4-FFF2-40B4-BE49-F238E27FC236}">
                <a16:creationId xmlns:a16="http://schemas.microsoft.com/office/drawing/2014/main" id="{9B1F271D-9933-BDC1-E298-0F0174800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9"/>
          <a:stretch>
            <a:fillRect/>
          </a:stretch>
        </p:blipFill>
        <p:spPr>
          <a:xfrm>
            <a:off x="40101" y="489708"/>
            <a:ext cx="10419527" cy="5172401"/>
          </a:xfrm>
          <a:prstGeom prst="rect">
            <a:avLst/>
          </a:prstGeom>
        </p:spPr>
      </p:pic>
      <p:sp>
        <p:nvSpPr>
          <p:cNvPr id="1188" name="Oval 1187">
            <a:extLst>
              <a:ext uri="{FF2B5EF4-FFF2-40B4-BE49-F238E27FC236}">
                <a16:creationId xmlns:a16="http://schemas.microsoft.com/office/drawing/2014/main" id="{EF1F9AFD-2ED0-FFA0-268E-51AF3D40B83D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8EF50E-FAC0-5D77-E4D6-8E5F0F941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429" y="4354912"/>
            <a:ext cx="1608037" cy="1608037"/>
          </a:xfrm>
          <a:prstGeom prst="ellipse">
            <a:avLst/>
          </a:prstGeom>
        </p:spPr>
      </p:pic>
      <p:pic>
        <p:nvPicPr>
          <p:cNvPr id="1063" name="Picture 1062" descr="Dr David Kainer - School of Agriculture and Food Sustainability -  University of Queensland">
            <a:extLst>
              <a:ext uri="{FF2B5EF4-FFF2-40B4-BE49-F238E27FC236}">
                <a16:creationId xmlns:a16="http://schemas.microsoft.com/office/drawing/2014/main" id="{53B65225-F033-FE2E-CE4C-CD8AE7BF4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628" y="2353941"/>
            <a:ext cx="1608037" cy="1608037"/>
          </a:xfrm>
          <a:prstGeom prst="ellipse">
            <a:avLst/>
          </a:prstGeom>
        </p:spPr>
      </p:pic>
      <p:sp>
        <p:nvSpPr>
          <p:cNvPr id="1064" name="Title 3">
            <a:extLst>
              <a:ext uri="{FF2B5EF4-FFF2-40B4-BE49-F238E27FC236}">
                <a16:creationId xmlns:a16="http://schemas.microsoft.com/office/drawing/2014/main" id="{ECF4A989-D976-F68B-6AFC-1947A6F36A75}"/>
              </a:ext>
            </a:extLst>
          </p:cNvPr>
          <p:cNvSpPr txBox="1">
            <a:spLocks/>
          </p:cNvSpPr>
          <p:nvPr/>
        </p:nvSpPr>
        <p:spPr>
          <a:xfrm>
            <a:off x="10496429" y="1862335"/>
            <a:ext cx="1706571" cy="590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Day 1: David Kainer</a:t>
            </a:r>
          </a:p>
        </p:txBody>
      </p:sp>
      <p:sp>
        <p:nvSpPr>
          <p:cNvPr id="1065" name="Title 3">
            <a:extLst>
              <a:ext uri="{FF2B5EF4-FFF2-40B4-BE49-F238E27FC236}">
                <a16:creationId xmlns:a16="http://schemas.microsoft.com/office/drawing/2014/main" id="{39DA8FC3-35FB-AE67-1B78-038B72BE09BD}"/>
              </a:ext>
            </a:extLst>
          </p:cNvPr>
          <p:cNvSpPr txBox="1">
            <a:spLocks/>
          </p:cNvSpPr>
          <p:nvPr/>
        </p:nvSpPr>
        <p:spPr>
          <a:xfrm>
            <a:off x="10496429" y="3863306"/>
            <a:ext cx="1706571" cy="590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Mehrnush Forutan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95D8F275-842D-DC55-0C38-770195524050}"/>
              </a:ext>
            </a:extLst>
          </p:cNvPr>
          <p:cNvSpPr txBox="1"/>
          <p:nvPr/>
        </p:nvSpPr>
        <p:spPr>
          <a:xfrm>
            <a:off x="3784736" y="5018066"/>
            <a:ext cx="3751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Trained on many sequences and genomes across species</a:t>
            </a:r>
          </a:p>
        </p:txBody>
      </p:sp>
    </p:spTree>
    <p:extLst>
      <p:ext uri="{BB962C8B-B14F-4D97-AF65-F5344CB8AC3E}">
        <p14:creationId xmlns:p14="http://schemas.microsoft.com/office/powerpoint/2010/main" val="4922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9136-E6EE-EBBA-8572-AC15F9C6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F4B1-9834-CA1A-4D45-97E78F6F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DNA foundation model SNP selection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E6AA77-A36C-5835-DB58-87A8D9AA3B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4" b="53437"/>
          <a:stretch>
            <a:fillRect/>
          </a:stretch>
        </p:blipFill>
        <p:spPr>
          <a:xfrm>
            <a:off x="395301" y="2119311"/>
            <a:ext cx="2817301" cy="10596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9ACC8C-41D0-B52E-6B56-1643485F43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248" b="8883"/>
          <a:stretch>
            <a:fillRect/>
          </a:stretch>
        </p:blipFill>
        <p:spPr>
          <a:xfrm>
            <a:off x="395301" y="4428810"/>
            <a:ext cx="2817301" cy="10001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599D45-4A7A-856F-0D58-4E376BD94D5E}"/>
              </a:ext>
            </a:extLst>
          </p:cNvPr>
          <p:cNvSpPr txBox="1"/>
          <p:nvPr/>
        </p:nvSpPr>
        <p:spPr>
          <a:xfrm>
            <a:off x="1115567" y="3080060"/>
            <a:ext cx="119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EFA3C-5D5A-4CA4-A591-BA51744D93B6}"/>
              </a:ext>
            </a:extLst>
          </p:cNvPr>
          <p:cNvSpPr txBox="1"/>
          <p:nvPr/>
        </p:nvSpPr>
        <p:spPr>
          <a:xfrm>
            <a:off x="842518" y="4118308"/>
            <a:ext cx="1704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Alternate (SNP)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616E3B-1747-0A6D-0E18-334369888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189" y="1992228"/>
            <a:ext cx="1745576" cy="1313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92E6E2-18F2-A2B1-BA18-0DC01AA29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189" y="4271999"/>
            <a:ext cx="1745576" cy="131380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37C95B-4740-B066-535A-C9385FD6C1B1}"/>
              </a:ext>
            </a:extLst>
          </p:cNvPr>
          <p:cNvCxnSpPr>
            <a:cxnSpLocks/>
          </p:cNvCxnSpPr>
          <p:nvPr/>
        </p:nvCxnSpPr>
        <p:spPr>
          <a:xfrm>
            <a:off x="3114040" y="4928903"/>
            <a:ext cx="4572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B8AEB4-39B2-1969-05E8-BC9C83DF12E3}"/>
              </a:ext>
            </a:extLst>
          </p:cNvPr>
          <p:cNvCxnSpPr>
            <a:cxnSpLocks/>
          </p:cNvCxnSpPr>
          <p:nvPr/>
        </p:nvCxnSpPr>
        <p:spPr>
          <a:xfrm>
            <a:off x="3114040" y="2617325"/>
            <a:ext cx="4572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AAD8F5-DD54-C75E-D9AC-A6346FBB059F}"/>
              </a:ext>
            </a:extLst>
          </p:cNvPr>
          <p:cNvCxnSpPr>
            <a:cxnSpLocks/>
          </p:cNvCxnSpPr>
          <p:nvPr/>
        </p:nvCxnSpPr>
        <p:spPr>
          <a:xfrm>
            <a:off x="5068845" y="4951827"/>
            <a:ext cx="4572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7CFAFD-1C4F-26B9-8C59-874926DEA613}"/>
              </a:ext>
            </a:extLst>
          </p:cNvPr>
          <p:cNvCxnSpPr>
            <a:cxnSpLocks/>
          </p:cNvCxnSpPr>
          <p:nvPr/>
        </p:nvCxnSpPr>
        <p:spPr>
          <a:xfrm>
            <a:off x="5064760" y="2649131"/>
            <a:ext cx="4572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F68CBD1-BFE5-CBFD-4CD4-142B9B00FCF3}"/>
              </a:ext>
            </a:extLst>
          </p:cNvPr>
          <p:cNvSpPr txBox="1"/>
          <p:nvPr/>
        </p:nvSpPr>
        <p:spPr>
          <a:xfrm>
            <a:off x="5521960" y="2325965"/>
            <a:ext cx="1233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</a:t>
            </a:r>
          </a:p>
          <a:p>
            <a:pPr algn="ctr"/>
            <a:r>
              <a:rPr lang="en-US" dirty="0"/>
              <a:t>score</a:t>
            </a:r>
          </a:p>
          <a:p>
            <a:pPr algn="ctr"/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ref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2C599-F865-180B-771B-F2B4116A4A15}"/>
              </a:ext>
            </a:extLst>
          </p:cNvPr>
          <p:cNvSpPr txBox="1"/>
          <p:nvPr/>
        </p:nvSpPr>
        <p:spPr>
          <a:xfrm>
            <a:off x="5521960" y="4418181"/>
            <a:ext cx="1233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</a:t>
            </a:r>
          </a:p>
          <a:p>
            <a:pPr algn="ctr"/>
            <a:r>
              <a:rPr lang="en-US" dirty="0"/>
              <a:t>score</a:t>
            </a:r>
          </a:p>
          <a:p>
            <a:pPr algn="ctr"/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B4167A-AC12-274B-39D9-1B75D7EC4F6D}"/>
              </a:ext>
            </a:extLst>
          </p:cNvPr>
          <p:cNvSpPr txBox="1"/>
          <p:nvPr/>
        </p:nvSpPr>
        <p:spPr>
          <a:xfrm>
            <a:off x="6754990" y="3429000"/>
            <a:ext cx="211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Variant effect score</a:t>
            </a:r>
          </a:p>
          <a:p>
            <a:pPr algn="ctr"/>
            <a:r>
              <a:rPr lang="el-GR" i="1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r>
              <a:rPr lang="en-A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ref – alt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AD315-B124-9A50-DFC2-99450133DB10}"/>
              </a:ext>
            </a:extLst>
          </p:cNvPr>
          <p:cNvCxnSpPr>
            <a:cxnSpLocks/>
          </p:cNvCxnSpPr>
          <p:nvPr/>
        </p:nvCxnSpPr>
        <p:spPr>
          <a:xfrm>
            <a:off x="6702852" y="2649131"/>
            <a:ext cx="531068" cy="35822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EF18962-116C-C909-B162-CCC7699565B7}"/>
              </a:ext>
            </a:extLst>
          </p:cNvPr>
          <p:cNvCxnSpPr>
            <a:cxnSpLocks/>
          </p:cNvCxnSpPr>
          <p:nvPr/>
        </p:nvCxnSpPr>
        <p:spPr>
          <a:xfrm flipV="1">
            <a:off x="6789271" y="4418181"/>
            <a:ext cx="444651" cy="37205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42E3D6-A073-35D3-AEA2-BF82B139E150}"/>
                  </a:ext>
                </a:extLst>
              </p:cNvPr>
              <p:cNvSpPr txBox="1"/>
              <p:nvPr/>
            </p:nvSpPr>
            <p:spPr>
              <a:xfrm>
                <a:off x="6710162" y="5155390"/>
                <a:ext cx="5546996" cy="816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𝐸𝑛𝑠𝑒𝑚𝑏𝑙𝑒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 . </m:t>
                              </m:r>
                              <m:sSub>
                                <m:sSub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42E3D6-A073-35D3-AEA2-BF82B139E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162" y="5155390"/>
                <a:ext cx="5546996" cy="816698"/>
              </a:xfrm>
              <a:prstGeom prst="rect">
                <a:avLst/>
              </a:prstGeom>
              <a:blipFill>
                <a:blip r:embed="rId5"/>
                <a:stretch>
                  <a:fillRect t="-73846" b="-6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5DC17D25-93FA-722B-859B-48810B5A2D68}"/>
              </a:ext>
            </a:extLst>
          </p:cNvPr>
          <p:cNvCxnSpPr/>
          <p:nvPr/>
        </p:nvCxnSpPr>
        <p:spPr>
          <a:xfrm rot="16200000" flipH="1">
            <a:off x="8829717" y="3881253"/>
            <a:ext cx="1380921" cy="1122744"/>
          </a:xfrm>
          <a:prstGeom prst="bentConnector3">
            <a:avLst>
              <a:gd name="adj1" fmla="val 547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3A38E91-A439-317A-EE28-E6B96CFDFF4D}"/>
              </a:ext>
            </a:extLst>
          </p:cNvPr>
          <p:cNvSpPr txBox="1"/>
          <p:nvPr/>
        </p:nvSpPr>
        <p:spPr>
          <a:xfrm>
            <a:off x="10081550" y="3736265"/>
            <a:ext cx="14327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Ensemble methods let us benefit from a diversity of predictions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3913F63-9B6C-2119-0FD5-8AA8C00D9567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8EF52E-3E6C-3D47-B9F2-1D18F60AEEE7}"/>
              </a:ext>
            </a:extLst>
          </p:cNvPr>
          <p:cNvSpPr txBox="1"/>
          <p:nvPr/>
        </p:nvSpPr>
        <p:spPr>
          <a:xfrm>
            <a:off x="7935882" y="1677333"/>
            <a:ext cx="414130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a typeface="Cambria Math" panose="02040503050406030204" pitchFamily="18" charset="0"/>
              </a:rPr>
              <a:t>evolutionary/purifying selection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a typeface="Cambria Math" panose="02040503050406030204" pitchFamily="18" charset="0"/>
              </a:rPr>
              <a:t>expression 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a typeface="Cambria Math" panose="02040503050406030204" pitchFamily="18" charset="0"/>
              </a:rPr>
              <a:t>likelihood of a sequence or SNP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a typeface="Cambria Math" panose="02040503050406030204" pitchFamily="18" charset="0"/>
              </a:rPr>
              <a:t>or other features not easily observable humans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78A863-6089-DCAA-203D-879AC22EE5D8}"/>
              </a:ext>
            </a:extLst>
          </p:cNvPr>
          <p:cNvSpPr/>
          <p:nvPr/>
        </p:nvSpPr>
        <p:spPr>
          <a:xfrm>
            <a:off x="7749915" y="1413813"/>
            <a:ext cx="4327270" cy="2015187"/>
          </a:xfrm>
          <a:prstGeom prst="rect">
            <a:avLst/>
          </a:prstGeom>
          <a:solidFill>
            <a:schemeClr val="bg1">
              <a:alpha val="9097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C3E38D-0815-D0AB-072D-45839367C227}"/>
              </a:ext>
            </a:extLst>
          </p:cNvPr>
          <p:cNvSpPr/>
          <p:nvPr/>
        </p:nvSpPr>
        <p:spPr>
          <a:xfrm>
            <a:off x="8792330" y="3596614"/>
            <a:ext cx="3004369" cy="2015187"/>
          </a:xfrm>
          <a:prstGeom prst="rect">
            <a:avLst/>
          </a:prstGeom>
          <a:solidFill>
            <a:schemeClr val="bg1">
              <a:alpha val="9097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6804FE-384E-25C9-4649-6B41543B9575}"/>
              </a:ext>
            </a:extLst>
          </p:cNvPr>
          <p:cNvSpPr/>
          <p:nvPr/>
        </p:nvSpPr>
        <p:spPr>
          <a:xfrm>
            <a:off x="6968386" y="5027621"/>
            <a:ext cx="5044208" cy="1062898"/>
          </a:xfrm>
          <a:prstGeom prst="rect">
            <a:avLst/>
          </a:prstGeom>
          <a:solidFill>
            <a:schemeClr val="bg1">
              <a:alpha val="9097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02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90741-EBD5-9866-AAC9-823B51B0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DNA foundation model SNP selection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38150-DF2E-7CF9-D978-55A5C3AB4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4" b="53437"/>
          <a:stretch>
            <a:fillRect/>
          </a:stretch>
        </p:blipFill>
        <p:spPr>
          <a:xfrm>
            <a:off x="395301" y="2119311"/>
            <a:ext cx="2817301" cy="10596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C4ADE2-397B-A1A4-C33B-FAABB684EF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248" b="8883"/>
          <a:stretch>
            <a:fillRect/>
          </a:stretch>
        </p:blipFill>
        <p:spPr>
          <a:xfrm>
            <a:off x="395301" y="4428810"/>
            <a:ext cx="2817301" cy="10001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19B8B4-AEB1-E935-6A3D-D2B5992D9507}"/>
              </a:ext>
            </a:extLst>
          </p:cNvPr>
          <p:cNvSpPr txBox="1"/>
          <p:nvPr/>
        </p:nvSpPr>
        <p:spPr>
          <a:xfrm>
            <a:off x="1115567" y="3080060"/>
            <a:ext cx="119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D84E1-634E-8061-D31D-5268A538F89A}"/>
              </a:ext>
            </a:extLst>
          </p:cNvPr>
          <p:cNvSpPr txBox="1"/>
          <p:nvPr/>
        </p:nvSpPr>
        <p:spPr>
          <a:xfrm>
            <a:off x="842518" y="4118308"/>
            <a:ext cx="1704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Alternate (SNP)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8022C-F3FF-449E-82EA-5EA29198F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189" y="1992228"/>
            <a:ext cx="1745576" cy="1313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1EC371-E674-2EF9-63E5-B7B54B9B5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189" y="4271999"/>
            <a:ext cx="1745576" cy="131380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2171395-1C14-25C7-4A7C-BB251177B05A}"/>
              </a:ext>
            </a:extLst>
          </p:cNvPr>
          <p:cNvCxnSpPr>
            <a:cxnSpLocks/>
          </p:cNvCxnSpPr>
          <p:nvPr/>
        </p:nvCxnSpPr>
        <p:spPr>
          <a:xfrm>
            <a:off x="3114040" y="4928903"/>
            <a:ext cx="4572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2B7B74-D4CE-B7E6-AFAE-18BA550AE091}"/>
              </a:ext>
            </a:extLst>
          </p:cNvPr>
          <p:cNvCxnSpPr>
            <a:cxnSpLocks/>
          </p:cNvCxnSpPr>
          <p:nvPr/>
        </p:nvCxnSpPr>
        <p:spPr>
          <a:xfrm>
            <a:off x="3114040" y="2617325"/>
            <a:ext cx="4572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0522EC-7B91-75CA-C344-F1D9892AF516}"/>
              </a:ext>
            </a:extLst>
          </p:cNvPr>
          <p:cNvCxnSpPr>
            <a:cxnSpLocks/>
          </p:cNvCxnSpPr>
          <p:nvPr/>
        </p:nvCxnSpPr>
        <p:spPr>
          <a:xfrm>
            <a:off x="5068845" y="4951827"/>
            <a:ext cx="4572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7E4D13-1888-0EBB-65D9-A56438D49723}"/>
              </a:ext>
            </a:extLst>
          </p:cNvPr>
          <p:cNvCxnSpPr>
            <a:cxnSpLocks/>
          </p:cNvCxnSpPr>
          <p:nvPr/>
        </p:nvCxnSpPr>
        <p:spPr>
          <a:xfrm>
            <a:off x="5064760" y="2649131"/>
            <a:ext cx="4572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8F61158-E00C-4E16-F9EE-FD927D53DB34}"/>
              </a:ext>
            </a:extLst>
          </p:cNvPr>
          <p:cNvSpPr txBox="1"/>
          <p:nvPr/>
        </p:nvSpPr>
        <p:spPr>
          <a:xfrm>
            <a:off x="5521960" y="2325965"/>
            <a:ext cx="1233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</a:t>
            </a:r>
          </a:p>
          <a:p>
            <a:pPr algn="ctr"/>
            <a:r>
              <a:rPr lang="en-US" dirty="0"/>
              <a:t>score</a:t>
            </a:r>
          </a:p>
          <a:p>
            <a:pPr algn="ctr"/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ref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02E564-1724-65B7-7E06-130A63DA30EB}"/>
              </a:ext>
            </a:extLst>
          </p:cNvPr>
          <p:cNvSpPr txBox="1"/>
          <p:nvPr/>
        </p:nvSpPr>
        <p:spPr>
          <a:xfrm>
            <a:off x="5521960" y="4418181"/>
            <a:ext cx="1233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</a:t>
            </a:r>
          </a:p>
          <a:p>
            <a:pPr algn="ctr"/>
            <a:r>
              <a:rPr lang="en-US" dirty="0"/>
              <a:t>score</a:t>
            </a:r>
          </a:p>
          <a:p>
            <a:pPr algn="ctr"/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3C2015-8853-FE90-960B-34B12A41E4C3}"/>
              </a:ext>
            </a:extLst>
          </p:cNvPr>
          <p:cNvSpPr txBox="1"/>
          <p:nvPr/>
        </p:nvSpPr>
        <p:spPr>
          <a:xfrm>
            <a:off x="6754990" y="3429000"/>
            <a:ext cx="211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Variant effect score</a:t>
            </a:r>
          </a:p>
          <a:p>
            <a:pPr algn="ctr"/>
            <a:r>
              <a:rPr lang="el-GR" i="1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r>
              <a:rPr lang="en-A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ref – alt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0C156C-4144-C35F-BB82-BB64A1B6F378}"/>
              </a:ext>
            </a:extLst>
          </p:cNvPr>
          <p:cNvCxnSpPr>
            <a:cxnSpLocks/>
          </p:cNvCxnSpPr>
          <p:nvPr/>
        </p:nvCxnSpPr>
        <p:spPr>
          <a:xfrm>
            <a:off x="6702852" y="2649131"/>
            <a:ext cx="531068" cy="35822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9FB6DE-882E-4DC9-4A05-225BBC9E8DE3}"/>
              </a:ext>
            </a:extLst>
          </p:cNvPr>
          <p:cNvCxnSpPr>
            <a:cxnSpLocks/>
          </p:cNvCxnSpPr>
          <p:nvPr/>
        </p:nvCxnSpPr>
        <p:spPr>
          <a:xfrm flipV="1">
            <a:off x="6789271" y="4418181"/>
            <a:ext cx="444651" cy="37205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A9EFA2-CE28-D990-28D7-55F101C99AC6}"/>
                  </a:ext>
                </a:extLst>
              </p:cNvPr>
              <p:cNvSpPr txBox="1"/>
              <p:nvPr/>
            </p:nvSpPr>
            <p:spPr>
              <a:xfrm>
                <a:off x="6710162" y="5155390"/>
                <a:ext cx="5546996" cy="816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𝐸𝑛𝑠𝑒𝑚𝑏𝑙𝑒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 . </m:t>
                              </m:r>
                              <m:sSub>
                                <m:sSub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A9EFA2-CE28-D990-28D7-55F101C99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162" y="5155390"/>
                <a:ext cx="5546996" cy="816698"/>
              </a:xfrm>
              <a:prstGeom prst="rect">
                <a:avLst/>
              </a:prstGeom>
              <a:blipFill>
                <a:blip r:embed="rId5"/>
                <a:stretch>
                  <a:fillRect t="-73846" b="-6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B6F3F17B-EA67-A525-40D2-C4A485145669}"/>
              </a:ext>
            </a:extLst>
          </p:cNvPr>
          <p:cNvCxnSpPr/>
          <p:nvPr/>
        </p:nvCxnSpPr>
        <p:spPr>
          <a:xfrm rot="16200000" flipH="1">
            <a:off x="8829717" y="3881253"/>
            <a:ext cx="1380921" cy="1122744"/>
          </a:xfrm>
          <a:prstGeom prst="bentConnector3">
            <a:avLst>
              <a:gd name="adj1" fmla="val 547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40E8263-2D3B-0A50-D918-55CE3B6EED6F}"/>
              </a:ext>
            </a:extLst>
          </p:cNvPr>
          <p:cNvSpPr txBox="1"/>
          <p:nvPr/>
        </p:nvSpPr>
        <p:spPr>
          <a:xfrm>
            <a:off x="10081550" y="3736265"/>
            <a:ext cx="14327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Ensemble methods let us benefit from a diversity of predictions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BB72230-3AEB-326C-2E39-D373D46085AD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9C11A0-51C1-DC90-16D9-2978AF56106D}"/>
              </a:ext>
            </a:extLst>
          </p:cNvPr>
          <p:cNvSpPr txBox="1"/>
          <p:nvPr/>
        </p:nvSpPr>
        <p:spPr>
          <a:xfrm>
            <a:off x="7935882" y="1677333"/>
            <a:ext cx="414130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a typeface="Cambria Math" panose="02040503050406030204" pitchFamily="18" charset="0"/>
              </a:rPr>
              <a:t>evolutionary/purifying selection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a typeface="Cambria Math" panose="02040503050406030204" pitchFamily="18" charset="0"/>
              </a:rPr>
              <a:t>expression 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a typeface="Cambria Math" panose="02040503050406030204" pitchFamily="18" charset="0"/>
              </a:rPr>
              <a:t>likelihood of a sequence or SNP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a typeface="Cambria Math" panose="02040503050406030204" pitchFamily="18" charset="0"/>
              </a:rPr>
              <a:t>or other features not easily observable humans (embeddings)</a:t>
            </a:r>
          </a:p>
        </p:txBody>
      </p:sp>
    </p:spTree>
    <p:extLst>
      <p:ext uri="{BB962C8B-B14F-4D97-AF65-F5344CB8AC3E}">
        <p14:creationId xmlns:p14="http://schemas.microsoft.com/office/powerpoint/2010/main" val="134530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4323-0BF8-EEA9-6EE6-2E78741E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F38F0-A13E-B77C-5409-C950901FB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19" y="2565981"/>
            <a:ext cx="2147763" cy="161651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B41B38-2A7E-39E1-F1A4-9D5A8430E4E0}"/>
              </a:ext>
            </a:extLst>
          </p:cNvPr>
          <p:cNvSpPr txBox="1">
            <a:spLocks/>
          </p:cNvSpPr>
          <p:nvPr/>
        </p:nvSpPr>
        <p:spPr>
          <a:xfrm>
            <a:off x="7644401" y="507263"/>
            <a:ext cx="2390570" cy="904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E9A4D6-303B-37AF-FE1F-DD3025547A8D}"/>
                  </a:ext>
                </a:extLst>
              </p:cNvPr>
              <p:cNvSpPr txBox="1"/>
              <p:nvPr/>
            </p:nvSpPr>
            <p:spPr>
              <a:xfrm>
                <a:off x="134756" y="4932109"/>
                <a:ext cx="45593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𝑙𝑜𝑔𝑃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</m:d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𝑙𝑜𝑔𝑃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𝑟𝑒𝑓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E9A4D6-303B-37AF-FE1F-DD3025547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56" y="4932109"/>
                <a:ext cx="4559325" cy="369332"/>
              </a:xfrm>
              <a:prstGeom prst="rect">
                <a:avLst/>
              </a:prstGeom>
              <a:blipFill>
                <a:blip r:embed="rId4"/>
                <a:stretch>
                  <a:fillRect l="-1111" t="-10000" r="-1944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75B19C64-3CF2-F62F-725D-91D164689A1C}"/>
              </a:ext>
            </a:extLst>
          </p:cNvPr>
          <p:cNvSpPr txBox="1">
            <a:spLocks/>
          </p:cNvSpPr>
          <p:nvPr/>
        </p:nvSpPr>
        <p:spPr>
          <a:xfrm>
            <a:off x="970815" y="1157349"/>
            <a:ext cx="1888770" cy="546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Log likelihood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896B4F-3324-0DC7-8E04-E9C4FEC78237}"/>
              </a:ext>
            </a:extLst>
          </p:cNvPr>
          <p:cNvGrpSpPr/>
          <p:nvPr/>
        </p:nvGrpSpPr>
        <p:grpSpPr>
          <a:xfrm>
            <a:off x="253656" y="2216060"/>
            <a:ext cx="587663" cy="2124764"/>
            <a:chOff x="324800" y="2296800"/>
            <a:chExt cx="587663" cy="2124764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DC2F705-4C69-DEB8-5E12-904CBE95458A}"/>
                </a:ext>
              </a:extLst>
            </p:cNvPr>
            <p:cNvSpPr/>
            <p:nvPr/>
          </p:nvSpPr>
          <p:spPr>
            <a:xfrm>
              <a:off x="324800" y="2296800"/>
              <a:ext cx="587663" cy="2124764"/>
            </a:xfrm>
            <a:prstGeom prst="roundRect">
              <a:avLst>
                <a:gd name="adj" fmla="val 9440"/>
              </a:avLst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2E9BD16-EF35-5CF5-A6BB-058C984FAC7E}"/>
                </a:ext>
              </a:extLst>
            </p:cNvPr>
            <p:cNvSpPr/>
            <p:nvPr/>
          </p:nvSpPr>
          <p:spPr>
            <a:xfrm>
              <a:off x="417154" y="2432615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1E572B0-8F12-DE8F-7539-C1BDD3F49924}"/>
                </a:ext>
              </a:extLst>
            </p:cNvPr>
            <p:cNvSpPr/>
            <p:nvPr/>
          </p:nvSpPr>
          <p:spPr>
            <a:xfrm>
              <a:off x="417153" y="2842372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G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F7EBFC2-3C98-DDC9-FE78-9452A7CDA8E7}"/>
                </a:ext>
              </a:extLst>
            </p:cNvPr>
            <p:cNvSpPr/>
            <p:nvPr/>
          </p:nvSpPr>
          <p:spPr>
            <a:xfrm>
              <a:off x="417153" y="3252129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?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28D6A1E1-5C05-9334-7208-EFE65D446868}"/>
                </a:ext>
              </a:extLst>
            </p:cNvPr>
            <p:cNvSpPr/>
            <p:nvPr/>
          </p:nvSpPr>
          <p:spPr>
            <a:xfrm>
              <a:off x="417152" y="3661885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T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F38B21B-DBF6-E53E-4312-F8A3AB39C390}"/>
                </a:ext>
              </a:extLst>
            </p:cNvPr>
            <p:cNvSpPr/>
            <p:nvPr/>
          </p:nvSpPr>
          <p:spPr>
            <a:xfrm>
              <a:off x="414532" y="4100023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C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623E06-D2E2-B2D2-5233-66E17C3690E7}"/>
              </a:ext>
            </a:extLst>
          </p:cNvPr>
          <p:cNvCxnSpPr>
            <a:cxnSpLocks/>
          </p:cNvCxnSpPr>
          <p:nvPr/>
        </p:nvCxnSpPr>
        <p:spPr>
          <a:xfrm>
            <a:off x="841319" y="3362775"/>
            <a:ext cx="242807" cy="0"/>
          </a:xfrm>
          <a:prstGeom prst="straightConnector1">
            <a:avLst/>
          </a:prstGeom>
          <a:ln w="349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567701-49E2-F774-45FE-6D7EF97FD969}"/>
              </a:ext>
            </a:extLst>
          </p:cNvPr>
          <p:cNvCxnSpPr>
            <a:cxnSpLocks/>
          </p:cNvCxnSpPr>
          <p:nvPr/>
        </p:nvCxnSpPr>
        <p:spPr>
          <a:xfrm>
            <a:off x="2788757" y="3385495"/>
            <a:ext cx="236111" cy="0"/>
          </a:xfrm>
          <a:prstGeom prst="straightConnector1">
            <a:avLst/>
          </a:prstGeom>
          <a:ln w="349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85E241C-E826-6F4C-28EE-B04C93133DC7}"/>
              </a:ext>
            </a:extLst>
          </p:cNvPr>
          <p:cNvSpPr/>
          <p:nvPr/>
        </p:nvSpPr>
        <p:spPr>
          <a:xfrm>
            <a:off x="3072944" y="2554518"/>
            <a:ext cx="1070793" cy="1718658"/>
          </a:xfrm>
          <a:prstGeom prst="roundRect">
            <a:avLst>
              <a:gd name="adj" fmla="val 1167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ADDB9B4-F829-3F5D-B136-1B9AC72852AB}"/>
              </a:ext>
            </a:extLst>
          </p:cNvPr>
          <p:cNvSpPr/>
          <p:nvPr/>
        </p:nvSpPr>
        <p:spPr>
          <a:xfrm>
            <a:off x="3182400" y="2642144"/>
            <a:ext cx="822210" cy="296666"/>
          </a:xfrm>
          <a:prstGeom prst="roundRect">
            <a:avLst>
              <a:gd name="adj" fmla="val 25145"/>
            </a:avLst>
          </a:prstGeom>
          <a:solidFill>
            <a:srgbClr val="F5FAF3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 Narrow" panose="020B0604020202020204" pitchFamily="34" charset="0"/>
                <a:cs typeface="Arial Narrow" panose="020B0604020202020204" pitchFamily="34" charset="0"/>
              </a:rPr>
              <a:t>A = 0.80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16CF6D8-5A4B-858F-7F89-D48DB09583E7}"/>
              </a:ext>
            </a:extLst>
          </p:cNvPr>
          <p:cNvSpPr/>
          <p:nvPr/>
        </p:nvSpPr>
        <p:spPr>
          <a:xfrm>
            <a:off x="3197154" y="3045506"/>
            <a:ext cx="811293" cy="296666"/>
          </a:xfrm>
          <a:prstGeom prst="roundRect">
            <a:avLst>
              <a:gd name="adj" fmla="val 25145"/>
            </a:avLst>
          </a:prstGeom>
          <a:solidFill>
            <a:srgbClr val="F5FAF3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 Narrow" panose="020B0604020202020204" pitchFamily="34" charset="0"/>
                <a:cs typeface="Arial Narrow" panose="020B0604020202020204" pitchFamily="34" charset="0"/>
              </a:rPr>
              <a:t>G = 0.72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44F740E-FCEC-E4B0-820F-4727B0A717D9}"/>
              </a:ext>
            </a:extLst>
          </p:cNvPr>
          <p:cNvSpPr/>
          <p:nvPr/>
        </p:nvSpPr>
        <p:spPr>
          <a:xfrm>
            <a:off x="3197154" y="3437744"/>
            <a:ext cx="811292" cy="296666"/>
          </a:xfrm>
          <a:prstGeom prst="roundRect">
            <a:avLst>
              <a:gd name="adj" fmla="val 25145"/>
            </a:avLst>
          </a:prstGeom>
          <a:solidFill>
            <a:srgbClr val="F5FAF3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 Narrow" panose="020B0604020202020204" pitchFamily="34" charset="0"/>
                <a:cs typeface="Arial Narrow" panose="020B0604020202020204" pitchFamily="34" charset="0"/>
              </a:rPr>
              <a:t>C = 0.36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94016F0-8E54-8CA9-F79A-0CA1FF8A219A}"/>
              </a:ext>
            </a:extLst>
          </p:cNvPr>
          <p:cNvSpPr/>
          <p:nvPr/>
        </p:nvSpPr>
        <p:spPr>
          <a:xfrm>
            <a:off x="3211718" y="3831328"/>
            <a:ext cx="811292" cy="296666"/>
          </a:xfrm>
          <a:prstGeom prst="roundRect">
            <a:avLst>
              <a:gd name="adj" fmla="val 25145"/>
            </a:avLst>
          </a:prstGeom>
          <a:solidFill>
            <a:srgbClr val="F5FAF3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 Narrow" panose="020B0604020202020204" pitchFamily="34" charset="0"/>
                <a:cs typeface="Arial Narrow" panose="020B0604020202020204" pitchFamily="34" charset="0"/>
              </a:rPr>
              <a:t>T = 0.36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8B0E6B-D4CC-5407-72E6-ED4C8CE84440}"/>
              </a:ext>
            </a:extLst>
          </p:cNvPr>
          <p:cNvSpPr txBox="1"/>
          <p:nvPr/>
        </p:nvSpPr>
        <p:spPr>
          <a:xfrm>
            <a:off x="253656" y="19064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Input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AF91FD-9340-23BF-B4A5-4FD08FEA999F}"/>
              </a:ext>
            </a:extLst>
          </p:cNvPr>
          <p:cNvSpPr txBox="1"/>
          <p:nvPr/>
        </p:nvSpPr>
        <p:spPr>
          <a:xfrm>
            <a:off x="3061763" y="2177382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Prediction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DF76CA-BF8B-3F96-ED92-90C2F6B069A4}"/>
              </a:ext>
            </a:extLst>
          </p:cNvPr>
          <p:cNvSpPr txBox="1"/>
          <p:nvPr/>
        </p:nvSpPr>
        <p:spPr>
          <a:xfrm>
            <a:off x="4227599" y="2623514"/>
            <a:ext cx="46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ref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36F325-2A80-35F0-D8B7-133518B0E561}"/>
              </a:ext>
            </a:extLst>
          </p:cNvPr>
          <p:cNvSpPr txBox="1"/>
          <p:nvPr/>
        </p:nvSpPr>
        <p:spPr>
          <a:xfrm>
            <a:off x="4227593" y="3399290"/>
            <a:ext cx="564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ALT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02F150-5C00-52CC-5BBB-6AB023AD87DA}"/>
              </a:ext>
            </a:extLst>
          </p:cNvPr>
          <p:cNvCxnSpPr>
            <a:cxnSpLocks/>
          </p:cNvCxnSpPr>
          <p:nvPr/>
        </p:nvCxnSpPr>
        <p:spPr>
          <a:xfrm>
            <a:off x="4064564" y="2808180"/>
            <a:ext cx="227563" cy="0"/>
          </a:xfrm>
          <a:prstGeom prst="straightConnector1">
            <a:avLst/>
          </a:prstGeom>
          <a:ln w="349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223368C-33CA-B195-8142-D17D1BCED39E}"/>
              </a:ext>
            </a:extLst>
          </p:cNvPr>
          <p:cNvCxnSpPr>
            <a:cxnSpLocks/>
          </p:cNvCxnSpPr>
          <p:nvPr/>
        </p:nvCxnSpPr>
        <p:spPr>
          <a:xfrm>
            <a:off x="4064564" y="3581145"/>
            <a:ext cx="227563" cy="0"/>
          </a:xfrm>
          <a:prstGeom prst="straightConnector1">
            <a:avLst/>
          </a:prstGeom>
          <a:ln w="349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09FBA9D0-0EAC-4A07-B042-65F659A84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519" y="2629487"/>
            <a:ext cx="2147763" cy="1616513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8AC59C17-F076-4EC6-3F6A-C2CE4A13ACBE}"/>
              </a:ext>
            </a:extLst>
          </p:cNvPr>
          <p:cNvSpPr txBox="1">
            <a:spLocks/>
          </p:cNvSpPr>
          <p:nvPr/>
        </p:nvSpPr>
        <p:spPr>
          <a:xfrm>
            <a:off x="588559" y="5288340"/>
            <a:ext cx="3476005" cy="904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The impact of a SNP (ALT)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9AAA08-1D5A-7E8C-DD59-BFBC9BDC4A0F}"/>
              </a:ext>
            </a:extLst>
          </p:cNvPr>
          <p:cNvGrpSpPr/>
          <p:nvPr/>
        </p:nvGrpSpPr>
        <p:grpSpPr>
          <a:xfrm>
            <a:off x="5918447" y="2366618"/>
            <a:ext cx="587663" cy="2124764"/>
            <a:chOff x="324800" y="2296800"/>
            <a:chExt cx="587663" cy="2124764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5D7530C3-4C68-826D-1B80-CD4F1C5FA6CE}"/>
                </a:ext>
              </a:extLst>
            </p:cNvPr>
            <p:cNvSpPr/>
            <p:nvPr/>
          </p:nvSpPr>
          <p:spPr>
            <a:xfrm>
              <a:off x="324800" y="2296800"/>
              <a:ext cx="587663" cy="2124764"/>
            </a:xfrm>
            <a:prstGeom prst="roundRect">
              <a:avLst>
                <a:gd name="adj" fmla="val 9440"/>
              </a:avLst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220D0778-0B9C-74CF-6118-22B000476A9C}"/>
                </a:ext>
              </a:extLst>
            </p:cNvPr>
            <p:cNvSpPr/>
            <p:nvPr/>
          </p:nvSpPr>
          <p:spPr>
            <a:xfrm>
              <a:off x="417154" y="2432615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A</a:t>
              </a: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8A4B916E-FC8C-BC86-270E-BB6C482044EB}"/>
                </a:ext>
              </a:extLst>
            </p:cNvPr>
            <p:cNvSpPr/>
            <p:nvPr/>
          </p:nvSpPr>
          <p:spPr>
            <a:xfrm>
              <a:off x="417153" y="2842372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G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75E3EABE-C2B4-6F0A-203D-65F7B27A1519}"/>
                </a:ext>
              </a:extLst>
            </p:cNvPr>
            <p:cNvSpPr/>
            <p:nvPr/>
          </p:nvSpPr>
          <p:spPr>
            <a:xfrm>
              <a:off x="417153" y="3252129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A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AFA4E33-1ACF-6F73-4BCB-9D5C9AC38331}"/>
                </a:ext>
              </a:extLst>
            </p:cNvPr>
            <p:cNvSpPr/>
            <p:nvPr/>
          </p:nvSpPr>
          <p:spPr>
            <a:xfrm>
              <a:off x="417152" y="3661885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T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AC273464-0CD8-1452-3B06-FEAC44050880}"/>
                </a:ext>
              </a:extLst>
            </p:cNvPr>
            <p:cNvSpPr/>
            <p:nvPr/>
          </p:nvSpPr>
          <p:spPr>
            <a:xfrm>
              <a:off x="414532" y="4100023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C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4F1A963-476A-7167-FE21-E8158DE66F57}"/>
              </a:ext>
            </a:extLst>
          </p:cNvPr>
          <p:cNvSpPr txBox="1"/>
          <p:nvPr/>
        </p:nvSpPr>
        <p:spPr>
          <a:xfrm>
            <a:off x="5977115" y="2055489"/>
            <a:ext cx="45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 Narrow" panose="020B0604020202020204" pitchFamily="34" charset="0"/>
              </a:rPr>
              <a:t>ref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4BDE534-00F6-B15A-B89A-EA27A7F071BB}"/>
              </a:ext>
            </a:extLst>
          </p:cNvPr>
          <p:cNvGrpSpPr/>
          <p:nvPr/>
        </p:nvGrpSpPr>
        <p:grpSpPr>
          <a:xfrm>
            <a:off x="6717125" y="2366618"/>
            <a:ext cx="587663" cy="2124764"/>
            <a:chOff x="324800" y="2296800"/>
            <a:chExt cx="587663" cy="2124764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CEE2FC57-7ABB-32E9-BE7C-0C4B137A14ED}"/>
                </a:ext>
              </a:extLst>
            </p:cNvPr>
            <p:cNvSpPr/>
            <p:nvPr/>
          </p:nvSpPr>
          <p:spPr>
            <a:xfrm>
              <a:off x="324800" y="2296800"/>
              <a:ext cx="587663" cy="2124764"/>
            </a:xfrm>
            <a:prstGeom prst="roundRect">
              <a:avLst>
                <a:gd name="adj" fmla="val 9440"/>
              </a:avLst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439C0BD3-CBE7-6274-127F-4B4620B67850}"/>
                </a:ext>
              </a:extLst>
            </p:cNvPr>
            <p:cNvSpPr/>
            <p:nvPr/>
          </p:nvSpPr>
          <p:spPr>
            <a:xfrm>
              <a:off x="417154" y="2432615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A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91FFE1B4-A5EC-A5AF-D5EC-5796E08D3CA3}"/>
                </a:ext>
              </a:extLst>
            </p:cNvPr>
            <p:cNvSpPr/>
            <p:nvPr/>
          </p:nvSpPr>
          <p:spPr>
            <a:xfrm>
              <a:off x="417153" y="2842372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G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5BD5D93E-1B37-3648-B610-3932CAED7876}"/>
                </a:ext>
              </a:extLst>
            </p:cNvPr>
            <p:cNvSpPr/>
            <p:nvPr/>
          </p:nvSpPr>
          <p:spPr>
            <a:xfrm>
              <a:off x="417153" y="3252129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C</a:t>
              </a: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159C2930-7D76-0B18-CAF3-B59BA93CEECC}"/>
                </a:ext>
              </a:extLst>
            </p:cNvPr>
            <p:cNvSpPr/>
            <p:nvPr/>
          </p:nvSpPr>
          <p:spPr>
            <a:xfrm>
              <a:off x="417152" y="3661885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T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A514C5C8-58E7-0D55-E28B-56F159CD5942}"/>
                </a:ext>
              </a:extLst>
            </p:cNvPr>
            <p:cNvSpPr/>
            <p:nvPr/>
          </p:nvSpPr>
          <p:spPr>
            <a:xfrm>
              <a:off x="414532" y="4100023"/>
              <a:ext cx="408200" cy="214106"/>
            </a:xfrm>
            <a:prstGeom prst="roundRect">
              <a:avLst>
                <a:gd name="adj" fmla="val 25145"/>
              </a:avLst>
            </a:prstGeom>
            <a:solidFill>
              <a:srgbClr val="F5FAF3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C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9F449FFF-AE1A-00A5-FD2A-7A9F53680D7A}"/>
              </a:ext>
            </a:extLst>
          </p:cNvPr>
          <p:cNvSpPr txBox="1"/>
          <p:nvPr/>
        </p:nvSpPr>
        <p:spPr>
          <a:xfrm>
            <a:off x="6775793" y="2055489"/>
            <a:ext cx="558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 Narrow" panose="020B0604020202020204" pitchFamily="34" charset="0"/>
              </a:rPr>
              <a:t>ALT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88DDB6B-D1CB-95AC-0FBE-B54D8C795A30}"/>
              </a:ext>
            </a:extLst>
          </p:cNvPr>
          <p:cNvCxnSpPr>
            <a:cxnSpLocks/>
          </p:cNvCxnSpPr>
          <p:nvPr/>
        </p:nvCxnSpPr>
        <p:spPr>
          <a:xfrm>
            <a:off x="7334344" y="3413306"/>
            <a:ext cx="242807" cy="0"/>
          </a:xfrm>
          <a:prstGeom prst="straightConnector1">
            <a:avLst/>
          </a:prstGeom>
          <a:ln w="349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73E8F80-4E44-F14D-BD8F-7A62E927C752}"/>
              </a:ext>
            </a:extLst>
          </p:cNvPr>
          <p:cNvCxnSpPr>
            <a:cxnSpLocks/>
          </p:cNvCxnSpPr>
          <p:nvPr/>
        </p:nvCxnSpPr>
        <p:spPr>
          <a:xfrm>
            <a:off x="9361640" y="3437744"/>
            <a:ext cx="236111" cy="0"/>
          </a:xfrm>
          <a:prstGeom prst="straightConnector1">
            <a:avLst/>
          </a:prstGeom>
          <a:ln w="349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3BBB91E-78CE-9FBF-1D39-888BF06597B9}"/>
              </a:ext>
            </a:extLst>
          </p:cNvPr>
          <p:cNvGrpSpPr/>
          <p:nvPr/>
        </p:nvGrpSpPr>
        <p:grpSpPr>
          <a:xfrm rot="5400000">
            <a:off x="9323034" y="3283697"/>
            <a:ext cx="923366" cy="350498"/>
            <a:chOff x="3498112" y="991570"/>
            <a:chExt cx="1049096" cy="398223"/>
          </a:xfrm>
          <a:solidFill>
            <a:srgbClr val="FFB0C1"/>
          </a:solidFill>
        </p:grpSpPr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0749C2CE-9D81-C8C8-71C1-4B031F89F9BF}"/>
                </a:ext>
              </a:extLst>
            </p:cNvPr>
            <p:cNvSpPr/>
            <p:nvPr/>
          </p:nvSpPr>
          <p:spPr>
            <a:xfrm>
              <a:off x="3498112" y="1052732"/>
              <a:ext cx="1049096" cy="337061"/>
            </a:xfrm>
            <a:prstGeom prst="roundRect">
              <a:avLst>
                <a:gd name="adj" fmla="val 25145"/>
              </a:avLst>
            </a:prstGeom>
            <a:grpFill/>
            <a:ln>
              <a:solidFill>
                <a:srgbClr val="E8080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9A229D4-DC74-F7BB-00FF-E9BEFDC237D2}"/>
                </a:ext>
              </a:extLst>
            </p:cNvPr>
            <p:cNvSpPr txBox="1"/>
            <p:nvPr/>
          </p:nvSpPr>
          <p:spPr>
            <a:xfrm rot="16200000">
              <a:off x="3796743" y="742602"/>
              <a:ext cx="393760" cy="891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h</a:t>
              </a:r>
              <a:r>
                <a:rPr lang="en-US" sz="900" baseline="-25000" dirty="0"/>
                <a:t>1 </a:t>
              </a:r>
            </a:p>
            <a:p>
              <a:r>
                <a:rPr lang="en-US" sz="900" dirty="0"/>
                <a:t>h</a:t>
              </a:r>
              <a:r>
                <a:rPr lang="en-US" sz="900" baseline="-25000" dirty="0"/>
                <a:t>2</a:t>
              </a:r>
              <a:br>
                <a:rPr lang="en-US" sz="900" baseline="-25000" dirty="0"/>
              </a:br>
              <a:r>
                <a:rPr lang="en-US" sz="900" dirty="0"/>
                <a:t>h</a:t>
              </a:r>
              <a:r>
                <a:rPr lang="en-US" sz="900" baseline="-25000" dirty="0"/>
                <a:t>3</a:t>
              </a:r>
              <a:r>
                <a:rPr lang="en-US" sz="900" dirty="0"/>
                <a:t> </a:t>
              </a:r>
              <a:endParaRPr lang="en-US" sz="900" baseline="-25000" dirty="0"/>
            </a:p>
            <a:p>
              <a:r>
                <a:rPr lang="en-US" sz="900" dirty="0"/>
                <a:t>h</a:t>
              </a:r>
              <a:r>
                <a:rPr lang="en-US" sz="900" baseline="-25000" dirty="0"/>
                <a:t>4</a:t>
              </a:r>
            </a:p>
            <a:p>
              <a:r>
                <a:rPr lang="en-US" sz="900" baseline="-25000" dirty="0"/>
                <a:t> </a:t>
              </a:r>
              <a:r>
                <a:rPr lang="en-US" sz="900" dirty="0"/>
                <a:t>h</a:t>
              </a:r>
              <a:r>
                <a:rPr lang="en-US" sz="900" baseline="-25000" dirty="0"/>
                <a:t>n </a:t>
              </a:r>
              <a:r>
                <a:rPr lang="en-US" sz="900" dirty="0"/>
                <a:t> 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1A90E27-C70A-C6C4-4C3D-5668E315B238}"/>
              </a:ext>
            </a:extLst>
          </p:cNvPr>
          <p:cNvSpPr txBox="1"/>
          <p:nvPr/>
        </p:nvSpPr>
        <p:spPr>
          <a:xfrm>
            <a:off x="9506187" y="2649766"/>
            <a:ext cx="45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 Narrow" panose="020B0604020202020204" pitchFamily="34" charset="0"/>
              </a:rPr>
              <a:t>ref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4142807-55A0-F493-0367-19E40D4B908F}"/>
              </a:ext>
            </a:extLst>
          </p:cNvPr>
          <p:cNvSpPr txBox="1"/>
          <p:nvPr/>
        </p:nvSpPr>
        <p:spPr>
          <a:xfrm>
            <a:off x="9910357" y="2651818"/>
            <a:ext cx="558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 Narrow" panose="020B0604020202020204" pitchFamily="34" charset="0"/>
              </a:rPr>
              <a:t>ALT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78AA473-416C-8F0E-B19A-FF82E7EDD092}"/>
              </a:ext>
            </a:extLst>
          </p:cNvPr>
          <p:cNvGrpSpPr/>
          <p:nvPr/>
        </p:nvGrpSpPr>
        <p:grpSpPr>
          <a:xfrm>
            <a:off x="10543913" y="2888465"/>
            <a:ext cx="1021783" cy="1021650"/>
            <a:chOff x="10596146" y="3271114"/>
            <a:chExt cx="1021783" cy="102165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8AE7DF6-76EF-132B-CE04-34F68F68642E}"/>
                </a:ext>
              </a:extLst>
            </p:cNvPr>
            <p:cNvCxnSpPr>
              <a:cxnSpLocks/>
            </p:cNvCxnSpPr>
            <p:nvPr/>
          </p:nvCxnSpPr>
          <p:spPr>
            <a:xfrm>
              <a:off x="10596146" y="3271114"/>
              <a:ext cx="0" cy="102165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DDC41E2-36E2-0AE5-7A65-5A0D0B390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596146" y="4273176"/>
              <a:ext cx="1021783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7675335-E000-BA61-3B37-29F446A7E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6146" y="3630245"/>
              <a:ext cx="562774" cy="662519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F55D7C4-21E6-5F62-4FA7-996AFFAC1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6146" y="3838756"/>
              <a:ext cx="789355" cy="434420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2720ED4-A126-24C9-2C37-76EC47B43235}"/>
                </a:ext>
              </a:extLst>
            </p:cNvPr>
            <p:cNvSpPr txBox="1"/>
            <p:nvPr/>
          </p:nvSpPr>
          <p:spPr>
            <a:xfrm>
              <a:off x="10639286" y="3536053"/>
              <a:ext cx="3984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ref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11CBF26-E2D4-5171-36DC-6DA8611FC3D8}"/>
                </a:ext>
              </a:extLst>
            </p:cNvPr>
            <p:cNvSpPr txBox="1"/>
            <p:nvPr/>
          </p:nvSpPr>
          <p:spPr>
            <a:xfrm>
              <a:off x="11010540" y="3972757"/>
              <a:ext cx="4804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chemeClr val="accent2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ALT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3CE323FD-EE58-AF3A-B378-2106679EB705}"/>
                    </a:ext>
                  </a:extLst>
                </p:cNvPr>
                <p:cNvSpPr txBox="1"/>
                <p:nvPr/>
              </p:nvSpPr>
              <p:spPr>
                <a:xfrm>
                  <a:off x="10938118" y="3597273"/>
                  <a:ext cx="56279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3CE323FD-EE58-AF3A-B378-2106679EB7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8118" y="3597273"/>
                  <a:ext cx="56279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421B91-110F-4B08-E989-E33AB841C626}"/>
              </a:ext>
            </a:extLst>
          </p:cNvPr>
          <p:cNvGrpSpPr/>
          <p:nvPr/>
        </p:nvGrpSpPr>
        <p:grpSpPr>
          <a:xfrm rot="5400000">
            <a:off x="9748537" y="3283697"/>
            <a:ext cx="923366" cy="350498"/>
            <a:chOff x="3498112" y="991570"/>
            <a:chExt cx="1049096" cy="398223"/>
          </a:xfrm>
          <a:solidFill>
            <a:srgbClr val="FFB0C1"/>
          </a:solidFill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39FF3FD6-C004-77C8-D22D-A15DF7664117}"/>
                </a:ext>
              </a:extLst>
            </p:cNvPr>
            <p:cNvSpPr/>
            <p:nvPr/>
          </p:nvSpPr>
          <p:spPr>
            <a:xfrm>
              <a:off x="3498112" y="1052732"/>
              <a:ext cx="1049096" cy="337061"/>
            </a:xfrm>
            <a:prstGeom prst="roundRect">
              <a:avLst>
                <a:gd name="adj" fmla="val 25145"/>
              </a:avLst>
            </a:prstGeom>
            <a:grpFill/>
            <a:ln>
              <a:solidFill>
                <a:srgbClr val="E8080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FAC39B6-C9B3-CA4F-2108-104A299C4638}"/>
                </a:ext>
              </a:extLst>
            </p:cNvPr>
            <p:cNvSpPr txBox="1"/>
            <p:nvPr/>
          </p:nvSpPr>
          <p:spPr>
            <a:xfrm rot="16200000">
              <a:off x="3796743" y="742602"/>
              <a:ext cx="393760" cy="891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h</a:t>
              </a:r>
              <a:r>
                <a:rPr lang="en-US" sz="900" baseline="-25000" dirty="0"/>
                <a:t>1 </a:t>
              </a:r>
            </a:p>
            <a:p>
              <a:r>
                <a:rPr lang="en-US" sz="900" dirty="0"/>
                <a:t>h</a:t>
              </a:r>
              <a:r>
                <a:rPr lang="en-US" sz="900" baseline="-25000" dirty="0"/>
                <a:t>2</a:t>
              </a:r>
              <a:br>
                <a:rPr lang="en-US" sz="900" baseline="-25000" dirty="0"/>
              </a:br>
              <a:r>
                <a:rPr lang="en-US" sz="900" dirty="0"/>
                <a:t>h</a:t>
              </a:r>
              <a:r>
                <a:rPr lang="en-US" sz="900" baseline="-25000" dirty="0"/>
                <a:t>3</a:t>
              </a:r>
              <a:r>
                <a:rPr lang="en-US" sz="900" dirty="0"/>
                <a:t> </a:t>
              </a:r>
              <a:endParaRPr lang="en-US" sz="900" baseline="-25000" dirty="0"/>
            </a:p>
            <a:p>
              <a:r>
                <a:rPr lang="en-US" sz="900" dirty="0"/>
                <a:t>h</a:t>
              </a:r>
              <a:r>
                <a:rPr lang="en-US" sz="900" baseline="-25000" dirty="0"/>
                <a:t>4</a:t>
              </a:r>
            </a:p>
            <a:p>
              <a:r>
                <a:rPr lang="en-US" sz="900" baseline="-25000" dirty="0"/>
                <a:t> </a:t>
              </a:r>
              <a:r>
                <a:rPr lang="en-US" sz="900" dirty="0"/>
                <a:t>h</a:t>
              </a:r>
              <a:r>
                <a:rPr lang="en-US" sz="900" baseline="-25000" dirty="0"/>
                <a:t>n </a:t>
              </a:r>
              <a:r>
                <a:rPr lang="en-US" sz="900" dirty="0"/>
                <a:t> </a:t>
              </a:r>
            </a:p>
          </p:txBody>
        </p:sp>
      </p:grpSp>
      <p:sp>
        <p:nvSpPr>
          <p:cNvPr id="88" name="Title 1">
            <a:extLst>
              <a:ext uri="{FF2B5EF4-FFF2-40B4-BE49-F238E27FC236}">
                <a16:creationId xmlns:a16="http://schemas.microsoft.com/office/drawing/2014/main" id="{E2756668-FDEB-1FB0-6DCF-79CB3329C856}"/>
              </a:ext>
            </a:extLst>
          </p:cNvPr>
          <p:cNvSpPr txBox="1">
            <a:spLocks/>
          </p:cNvSpPr>
          <p:nvPr/>
        </p:nvSpPr>
        <p:spPr>
          <a:xfrm>
            <a:off x="7536945" y="969272"/>
            <a:ext cx="2931963" cy="904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Embedding similarity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8F81C2FC-643E-17DB-5B71-A76C909369EB}"/>
              </a:ext>
            </a:extLst>
          </p:cNvPr>
          <p:cNvSpPr txBox="1">
            <a:spLocks/>
          </p:cNvSpPr>
          <p:nvPr/>
        </p:nvSpPr>
        <p:spPr>
          <a:xfrm>
            <a:off x="5527041" y="5256065"/>
            <a:ext cx="6361908" cy="904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Shows impact on the whole nucleotide sequence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84B81F3-DCFF-8640-E4FC-F65472C382A7}"/>
              </a:ext>
            </a:extLst>
          </p:cNvPr>
          <p:cNvSpPr txBox="1"/>
          <p:nvPr/>
        </p:nvSpPr>
        <p:spPr>
          <a:xfrm>
            <a:off x="5478394" y="5046284"/>
            <a:ext cx="617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Embeddings = AI learnt meaning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CDD3684-B5AD-C4A7-2E24-C84FF287D071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12248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F155F0-E2AD-01A1-DB03-FBC2272C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we predict actual effects? (Method 3)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919D66-2484-E2AF-08FB-2BE398DA4D8F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69AC2A-3DEC-A422-09FF-8513A5DD5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078" y="1814419"/>
            <a:ext cx="4436460" cy="399465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56F123-75B8-DD3C-3C95-283A828525A2}"/>
              </a:ext>
            </a:extLst>
          </p:cNvPr>
          <p:cNvSpPr/>
          <p:nvPr/>
        </p:nvSpPr>
        <p:spPr>
          <a:xfrm>
            <a:off x="4927187" y="2049091"/>
            <a:ext cx="2770355" cy="2957610"/>
          </a:xfrm>
          <a:prstGeom prst="roundRect">
            <a:avLst>
              <a:gd name="adj" fmla="val 5947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26AA4-983E-4509-CAC8-82B31A13D5B3}"/>
              </a:ext>
            </a:extLst>
          </p:cNvPr>
          <p:cNvSpPr txBox="1"/>
          <p:nvPr/>
        </p:nvSpPr>
        <p:spPr>
          <a:xfrm>
            <a:off x="5220492" y="2139974"/>
            <a:ext cx="2226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Fine-tuned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DNA foundation model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CFF787-3DEC-8DEB-D927-3BEA3DA535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93" t="12079" r="4063" b="8453"/>
          <a:stretch>
            <a:fillRect/>
          </a:stretch>
        </p:blipFill>
        <p:spPr>
          <a:xfrm>
            <a:off x="5086205" y="2918139"/>
            <a:ext cx="2452317" cy="152642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69CEC-9CCF-3269-D93C-5682031057F5}"/>
              </a:ext>
            </a:extLst>
          </p:cNvPr>
          <p:cNvGrpSpPr/>
          <p:nvPr/>
        </p:nvGrpSpPr>
        <p:grpSpPr>
          <a:xfrm>
            <a:off x="1195251" y="1735312"/>
            <a:ext cx="2668999" cy="3913067"/>
            <a:chOff x="393741" y="2056811"/>
            <a:chExt cx="2668999" cy="391306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054147-11A9-4029-38EC-3C47EB1681B0}"/>
                </a:ext>
              </a:extLst>
            </p:cNvPr>
            <p:cNvSpPr txBox="1"/>
            <p:nvPr/>
          </p:nvSpPr>
          <p:spPr>
            <a:xfrm>
              <a:off x="668720" y="5134647"/>
              <a:ext cx="2119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Labelled expression data</a:t>
              </a:r>
            </a:p>
            <a:p>
              <a:pPr algn="ctr"/>
              <a:r>
                <a:rPr lang="en-US" sz="1400" dirty="0"/>
                <a:t>(e.g. RNA-seq)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0490D84-11EE-50D7-445A-70400AD8B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6392" t="7840" r="1164" b="16978"/>
            <a:stretch>
              <a:fillRect/>
            </a:stretch>
          </p:blipFill>
          <p:spPr>
            <a:xfrm>
              <a:off x="976191" y="4093777"/>
              <a:ext cx="1541253" cy="104087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21F23EB-4BC4-1F24-1CE7-9D30B8F04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3830" y="2608054"/>
              <a:ext cx="1788820" cy="120369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F9E570-F37C-09D9-F2E2-B6AF91999BE1}"/>
                </a:ext>
              </a:extLst>
            </p:cNvPr>
            <p:cNvSpPr txBox="1"/>
            <p:nvPr/>
          </p:nvSpPr>
          <p:spPr>
            <a:xfrm>
              <a:off x="1074998" y="3733589"/>
              <a:ext cx="13436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DNA sequence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2E5428C3-5504-014D-6E13-2302B63A017F}"/>
                </a:ext>
              </a:extLst>
            </p:cNvPr>
            <p:cNvSpPr/>
            <p:nvPr/>
          </p:nvSpPr>
          <p:spPr>
            <a:xfrm>
              <a:off x="393741" y="2056811"/>
              <a:ext cx="2668999" cy="3913067"/>
            </a:xfrm>
            <a:prstGeom prst="roundRect">
              <a:avLst>
                <a:gd name="adj" fmla="val 9440"/>
              </a:avLst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A9D2802-C67F-CDA6-DF98-C501DA40E9ED}"/>
                </a:ext>
              </a:extLst>
            </p:cNvPr>
            <p:cNvSpPr txBox="1"/>
            <p:nvPr/>
          </p:nvSpPr>
          <p:spPr>
            <a:xfrm>
              <a:off x="1423651" y="214135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Input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D96B8B-68EF-FBC4-BDCA-49AC00D23A33}"/>
              </a:ext>
            </a:extLst>
          </p:cNvPr>
          <p:cNvCxnSpPr/>
          <p:nvPr/>
        </p:nvCxnSpPr>
        <p:spPr>
          <a:xfrm>
            <a:off x="3864250" y="3804026"/>
            <a:ext cx="1062937" cy="7720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40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EF0F76-0E48-410F-37CD-2AC58452B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8" r="831"/>
          <a:stretch>
            <a:fillRect/>
          </a:stretch>
        </p:blipFill>
        <p:spPr>
          <a:xfrm>
            <a:off x="671804" y="1"/>
            <a:ext cx="10786188" cy="615219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CC89F5C-79AF-7BE5-59C3-78E2B78BC2C4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4AC6E8D5-9AEF-59E5-5A00-3E0E5E432186}"/>
              </a:ext>
            </a:extLst>
          </p:cNvPr>
          <p:cNvSpPr txBox="1">
            <a:spLocks/>
          </p:cNvSpPr>
          <p:nvPr/>
        </p:nvSpPr>
        <p:spPr>
          <a:xfrm>
            <a:off x="8715564" y="5379600"/>
            <a:ext cx="1706571" cy="590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Ben Hayes</a:t>
            </a:r>
          </a:p>
        </p:txBody>
      </p:sp>
    </p:spTree>
    <p:extLst>
      <p:ext uri="{BB962C8B-B14F-4D97-AF65-F5344CB8AC3E}">
        <p14:creationId xmlns:p14="http://schemas.microsoft.com/office/powerpoint/2010/main" val="2796359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A84920-2639-93FE-D7CB-E9E20E3203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2009"/>
          <a:stretch>
            <a:fillRect/>
          </a:stretch>
        </p:blipFill>
        <p:spPr>
          <a:xfrm>
            <a:off x="1129553" y="0"/>
            <a:ext cx="9366169" cy="5932285"/>
          </a:xfrm>
          <a:prstGeom prst="rect">
            <a:avLst/>
          </a:prstGeom>
        </p:spPr>
      </p:pic>
      <p:pic>
        <p:nvPicPr>
          <p:cNvPr id="7" name="Picture 6" descr="Associate Professor Kim-Anh Lê Cao | Science and Technology Australia">
            <a:extLst>
              <a:ext uri="{FF2B5EF4-FFF2-40B4-BE49-F238E27FC236}">
                <a16:creationId xmlns:a16="http://schemas.microsoft.com/office/drawing/2014/main" id="{6CCF7D8B-72A5-D6AF-FF19-C5580B5EB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312" y="3640512"/>
            <a:ext cx="2121688" cy="2113973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27000" sx="1000" sy="1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5732681-6407-86E8-96BD-C398218C10F2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661CD9A-297D-463D-1CC2-6BF6AAC88823}"/>
              </a:ext>
            </a:extLst>
          </p:cNvPr>
          <p:cNvSpPr txBox="1">
            <a:spLocks/>
          </p:cNvSpPr>
          <p:nvPr/>
        </p:nvSpPr>
        <p:spPr>
          <a:xfrm>
            <a:off x="10490576" y="3186112"/>
            <a:ext cx="1706571" cy="590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Kim-Anh Le Cao</a:t>
            </a:r>
          </a:p>
        </p:txBody>
      </p:sp>
    </p:spTree>
    <p:extLst>
      <p:ext uri="{BB962C8B-B14F-4D97-AF65-F5344CB8AC3E}">
        <p14:creationId xmlns:p14="http://schemas.microsoft.com/office/powerpoint/2010/main" val="3175966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CF83670-950A-1E15-FA0F-AA0653557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708" y="4293771"/>
            <a:ext cx="1871157" cy="139643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C3D07DF-65B4-3CBD-C3AA-52C7B560DD36}"/>
              </a:ext>
            </a:extLst>
          </p:cNvPr>
          <p:cNvSpPr/>
          <p:nvPr/>
        </p:nvSpPr>
        <p:spPr>
          <a:xfrm>
            <a:off x="179406" y="5969878"/>
            <a:ext cx="764974" cy="7570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1BEB1D2-D76A-8142-D2B8-A38FF5FD8DDE}"/>
              </a:ext>
            </a:extLst>
          </p:cNvPr>
          <p:cNvSpPr txBox="1">
            <a:spLocks/>
          </p:cNvSpPr>
          <p:nvPr/>
        </p:nvSpPr>
        <p:spPr>
          <a:xfrm>
            <a:off x="678041" y="1809425"/>
            <a:ext cx="6527574" cy="1493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Use these prebuilt models to predict variant effect scores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D75F18A6-172F-FEE4-DBB7-EF33AE4FD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Applying  DNA foundation models to SNP selection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1CAEA-05AB-CBE8-4133-E557496F80CE}"/>
              </a:ext>
            </a:extLst>
          </p:cNvPr>
          <p:cNvSpPr txBox="1">
            <a:spLocks/>
          </p:cNvSpPr>
          <p:nvPr/>
        </p:nvSpPr>
        <p:spPr>
          <a:xfrm>
            <a:off x="678041" y="2838722"/>
            <a:ext cx="6527574" cy="1493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Build a pipeline to use the top-ranked SNPs in genomic prediction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E22CC-57D2-C2C0-63E1-6D893F23F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531" y="4334428"/>
            <a:ext cx="2147763" cy="1616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B3E16D-709A-DD24-7482-9B063AF6A7CC}"/>
              </a:ext>
            </a:extLst>
          </p:cNvPr>
          <p:cNvSpPr txBox="1"/>
          <p:nvPr/>
        </p:nvSpPr>
        <p:spPr>
          <a:xfrm>
            <a:off x="166727" y="5227478"/>
            <a:ext cx="2217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SNPs with sequence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CC9BE-6BDE-4DDC-AF36-0FDA34C4A3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3007"/>
          <a:stretch>
            <a:fillRect/>
          </a:stretch>
        </p:blipFill>
        <p:spPr>
          <a:xfrm>
            <a:off x="179406" y="4704822"/>
            <a:ext cx="2339127" cy="49255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4EFA9F-E108-FE55-87E0-764746ED5537}"/>
              </a:ext>
            </a:extLst>
          </p:cNvPr>
          <p:cNvCxnSpPr>
            <a:cxnSpLocks/>
          </p:cNvCxnSpPr>
          <p:nvPr/>
        </p:nvCxnSpPr>
        <p:spPr>
          <a:xfrm>
            <a:off x="2600409" y="5054757"/>
            <a:ext cx="580113" cy="0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3FAB49-C1B2-8325-69DA-F0641DF5C107}"/>
              </a:ext>
            </a:extLst>
          </p:cNvPr>
          <p:cNvGrpSpPr/>
          <p:nvPr/>
        </p:nvGrpSpPr>
        <p:grpSpPr>
          <a:xfrm rot="5400000">
            <a:off x="5525110" y="4881809"/>
            <a:ext cx="923366" cy="501182"/>
            <a:chOff x="3498113" y="820370"/>
            <a:chExt cx="1049096" cy="569424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1F3C720-3E4C-2289-931B-B1CF670D5A27}"/>
                </a:ext>
              </a:extLst>
            </p:cNvPr>
            <p:cNvSpPr/>
            <p:nvPr/>
          </p:nvSpPr>
          <p:spPr>
            <a:xfrm>
              <a:off x="3498113" y="870367"/>
              <a:ext cx="1049096" cy="519427"/>
            </a:xfrm>
            <a:prstGeom prst="roundRect">
              <a:avLst>
                <a:gd name="adj" fmla="val 25145"/>
              </a:avLst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217F14-A60C-FEC9-9099-879111297877}"/>
                </a:ext>
              </a:extLst>
            </p:cNvPr>
            <p:cNvSpPr txBox="1"/>
            <p:nvPr/>
          </p:nvSpPr>
          <p:spPr>
            <a:xfrm rot="16200000">
              <a:off x="3711145" y="657002"/>
              <a:ext cx="564959" cy="8916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900" dirty="0"/>
                <a:t>SNP</a:t>
              </a:r>
              <a:r>
                <a:rPr lang="en-US" sz="900" baseline="-25000" dirty="0"/>
                <a:t>1 </a:t>
              </a:r>
            </a:p>
            <a:p>
              <a:r>
                <a:rPr lang="en-US" sz="900" dirty="0"/>
                <a:t>SNP</a:t>
              </a:r>
              <a:r>
                <a:rPr lang="en-US" sz="900" baseline="-25000" dirty="0"/>
                <a:t>2</a:t>
              </a:r>
              <a:br>
                <a:rPr lang="en-US" sz="900" baseline="-25000" dirty="0"/>
              </a:br>
              <a:r>
                <a:rPr lang="en-US" sz="900" dirty="0"/>
                <a:t>SNP</a:t>
              </a:r>
              <a:r>
                <a:rPr lang="en-US" sz="900" baseline="-25000" dirty="0"/>
                <a:t>3</a:t>
              </a:r>
              <a:r>
                <a:rPr lang="en-US" sz="900" dirty="0"/>
                <a:t> </a:t>
              </a:r>
              <a:endParaRPr lang="en-US" sz="900" baseline="-25000" dirty="0"/>
            </a:p>
            <a:p>
              <a:r>
                <a:rPr lang="en-US" sz="900" dirty="0"/>
                <a:t>SNP</a:t>
              </a:r>
              <a:r>
                <a:rPr lang="en-US" sz="900" baseline="-25000" dirty="0"/>
                <a:t>4</a:t>
              </a:r>
            </a:p>
            <a:p>
              <a:r>
                <a:rPr lang="en-US" sz="900" baseline="-25000" dirty="0"/>
                <a:t> </a:t>
              </a:r>
              <a:r>
                <a:rPr lang="en-US" sz="900" dirty="0"/>
                <a:t>SNP</a:t>
              </a:r>
              <a:r>
                <a:rPr lang="en-US" sz="900" baseline="-25000" dirty="0"/>
                <a:t>n </a:t>
              </a:r>
              <a:r>
                <a:rPr lang="en-US" sz="900" dirty="0"/>
                <a:t>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D826162-17CE-9215-2AFC-3469FD51DCF3}"/>
              </a:ext>
            </a:extLst>
          </p:cNvPr>
          <p:cNvSpPr txBox="1"/>
          <p:nvPr/>
        </p:nvSpPr>
        <p:spPr>
          <a:xfrm>
            <a:off x="5432899" y="5589764"/>
            <a:ext cx="1111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Top SNPs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0B39BE-F809-5482-884A-E0CB8FFF0361}"/>
              </a:ext>
            </a:extLst>
          </p:cNvPr>
          <p:cNvGrpSpPr/>
          <p:nvPr/>
        </p:nvGrpSpPr>
        <p:grpSpPr>
          <a:xfrm>
            <a:off x="10047270" y="4432802"/>
            <a:ext cx="1568840" cy="1118373"/>
            <a:chOff x="6555138" y="4204557"/>
            <a:chExt cx="1767921" cy="145177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3EAC450-9C26-C57C-DD0A-CA3E6C61B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55138" y="4204557"/>
              <a:ext cx="1767921" cy="145177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1170181-0F09-D45B-483E-1E4D2FAD8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850" t="13270" b="5537"/>
            <a:stretch>
              <a:fillRect/>
            </a:stretch>
          </p:blipFill>
          <p:spPr>
            <a:xfrm>
              <a:off x="6861606" y="4440361"/>
              <a:ext cx="1104759" cy="699675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08CF45D-A671-D756-9A29-074AE51C51BF}"/>
              </a:ext>
            </a:extLst>
          </p:cNvPr>
          <p:cNvSpPr txBox="1"/>
          <p:nvPr/>
        </p:nvSpPr>
        <p:spPr>
          <a:xfrm>
            <a:off x="9854567" y="5589764"/>
            <a:ext cx="215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Genomic prediction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AF2836-6F48-FD96-8B72-3B4494A902FB}"/>
              </a:ext>
            </a:extLst>
          </p:cNvPr>
          <p:cNvCxnSpPr>
            <a:cxnSpLocks/>
          </p:cNvCxnSpPr>
          <p:nvPr/>
        </p:nvCxnSpPr>
        <p:spPr>
          <a:xfrm>
            <a:off x="5037247" y="5035604"/>
            <a:ext cx="580113" cy="0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094F95-7A5A-B88A-04F2-F793469C938C}"/>
              </a:ext>
            </a:extLst>
          </p:cNvPr>
          <p:cNvCxnSpPr>
            <a:cxnSpLocks/>
          </p:cNvCxnSpPr>
          <p:nvPr/>
        </p:nvCxnSpPr>
        <p:spPr>
          <a:xfrm>
            <a:off x="6357706" y="5054757"/>
            <a:ext cx="580113" cy="0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B0AB31-807C-4828-3806-7BD43BECBF97}"/>
              </a:ext>
            </a:extLst>
          </p:cNvPr>
          <p:cNvCxnSpPr>
            <a:cxnSpLocks/>
          </p:cNvCxnSpPr>
          <p:nvPr/>
        </p:nvCxnSpPr>
        <p:spPr>
          <a:xfrm>
            <a:off x="9185511" y="5054757"/>
            <a:ext cx="580113" cy="0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097656D-BF6A-5769-831E-CCE8B3325F60}"/>
              </a:ext>
            </a:extLst>
          </p:cNvPr>
          <p:cNvSpPr txBox="1"/>
          <p:nvPr/>
        </p:nvSpPr>
        <p:spPr>
          <a:xfrm>
            <a:off x="7032708" y="5589764"/>
            <a:ext cx="2576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Filtered genotype matrix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72DD9E-0EBA-4EBE-7E54-EC34A8444188}"/>
              </a:ext>
            </a:extLst>
          </p:cNvPr>
          <p:cNvSpPr txBox="1"/>
          <p:nvPr/>
        </p:nvSpPr>
        <p:spPr>
          <a:xfrm>
            <a:off x="3111593" y="5713195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PlantCad2 scoring</a:t>
            </a:r>
          </a:p>
        </p:txBody>
      </p:sp>
    </p:spTree>
    <p:extLst>
      <p:ext uri="{BB962C8B-B14F-4D97-AF65-F5344CB8AC3E}">
        <p14:creationId xmlns:p14="http://schemas.microsoft.com/office/powerpoint/2010/main" val="2330428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17434</TotalTime>
  <Words>630</Words>
  <Application>Microsoft Macintosh PowerPoint</Application>
  <PresentationFormat>Widescreen</PresentationFormat>
  <Paragraphs>213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Arial Narrow</vt:lpstr>
      <vt:lpstr>Cambria Math</vt:lpstr>
      <vt:lpstr>Wingdings</vt:lpstr>
      <vt:lpstr>Office Theme</vt:lpstr>
      <vt:lpstr>PowerPoint Presentation</vt:lpstr>
      <vt:lpstr>Why genomic prediction?</vt:lpstr>
      <vt:lpstr>Can we improve genomic prediction (GP)?</vt:lpstr>
      <vt:lpstr>Can we use AI for variant effect prediction?</vt:lpstr>
      <vt:lpstr>How large language models work</vt:lpstr>
      <vt:lpstr>PowerPoint Presentation</vt:lpstr>
      <vt:lpstr>DNA foundation model SNP selection methods</vt:lpstr>
      <vt:lpstr>DNA foundation model SNP selection methods</vt:lpstr>
      <vt:lpstr>Method 1</vt:lpstr>
      <vt:lpstr>Can we predict actual effects? (Method 3)</vt:lpstr>
      <vt:lpstr>PowerPoint Presentation</vt:lpstr>
      <vt:lpstr>PowerPoint Presentation</vt:lpstr>
      <vt:lpstr>Applying  DNA foundation models to SNP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Crow</dc:creator>
  <cp:lastModifiedBy>Thomas Crow</cp:lastModifiedBy>
  <cp:revision>385</cp:revision>
  <dcterms:created xsi:type="dcterms:W3CDTF">2026-06-01T02:07:53Z</dcterms:created>
  <dcterms:modified xsi:type="dcterms:W3CDTF">2026-07-15T00:39:26Z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2026-06-01T02:08:27Z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0f82dc44-21f4-472f-a0c3-63511612e88a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50, 3, 0, 1</vt:lpwstr>
  </property>
</Properties>
</file>